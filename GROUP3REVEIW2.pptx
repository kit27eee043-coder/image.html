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6"/>
  </p:notesMasterIdLst>
  <p:sldIdLst>
    <p:sldId id="257" r:id="rId2"/>
    <p:sldId id="282" r:id="rId3"/>
    <p:sldId id="273" r:id="rId4"/>
    <p:sldId id="275" r:id="rId5"/>
    <p:sldId id="265" r:id="rId6"/>
    <p:sldId id="272" r:id="rId7"/>
    <p:sldId id="279" r:id="rId8"/>
    <p:sldId id="283" r:id="rId9"/>
    <p:sldId id="280" r:id="rId10"/>
    <p:sldId id="284" r:id="rId11"/>
    <p:sldId id="287" r:id="rId12"/>
    <p:sldId id="285" r:id="rId13"/>
    <p:sldId id="264"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413" autoAdjust="0"/>
    <p:restoredTop sz="94598" autoAdjust="0"/>
  </p:normalViewPr>
  <p:slideViewPr>
    <p:cSldViewPr snapToGrid="0">
      <p:cViewPr varScale="1">
        <p:scale>
          <a:sx n="78" d="100"/>
          <a:sy n="78" d="100"/>
        </p:scale>
        <p:origin x="859"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11/3/2025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F80DB95-12C2-4B36-87AD-364F2FE88859}"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8C884-7234-2BA2-FF7B-C71890420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123BB2-626F-EBB0-C377-1295F423BC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23D50A-AEE0-7AA0-2653-8DD5C0E618B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5EBDF11-EB56-26E1-991D-BD522C62F837}"/>
              </a:ext>
            </a:extLst>
          </p:cNvPr>
          <p:cNvSpPr>
            <a:spLocks noGrp="1"/>
          </p:cNvSpPr>
          <p:nvPr>
            <p:ph type="sldNum" sz="quarter" idx="10"/>
          </p:nvPr>
        </p:nvSpPr>
        <p:spPr/>
        <p:txBody>
          <a:bodyPr/>
          <a:lstStyle/>
          <a:p>
            <a:fld id="{4F80DB95-12C2-4B36-87AD-364F2FE88859}" type="slidenum">
              <a:rPr lang="en-US" smtClean="0"/>
              <a:t>2</a:t>
            </a:fld>
            <a:endParaRPr lang="en-US"/>
          </a:p>
        </p:txBody>
      </p:sp>
    </p:spTree>
    <p:extLst>
      <p:ext uri="{BB962C8B-B14F-4D97-AF65-F5344CB8AC3E}">
        <p14:creationId xmlns:p14="http://schemas.microsoft.com/office/powerpoint/2010/main" val="7964625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82ADE-373E-33AF-C477-C79064A782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8CB0F4-377A-B939-72EF-06AF02B80D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DA03BB-DC70-ADBF-C3CE-C49A21F08A4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564AB95-AD74-B890-BF0C-6B43BA101CE5}"/>
              </a:ext>
            </a:extLst>
          </p:cNvPr>
          <p:cNvSpPr>
            <a:spLocks noGrp="1"/>
          </p:cNvSpPr>
          <p:nvPr>
            <p:ph type="sldNum" sz="quarter" idx="10"/>
          </p:nvPr>
        </p:nvSpPr>
        <p:spPr/>
        <p:txBody>
          <a:bodyPr/>
          <a:lstStyle/>
          <a:p>
            <a:fld id="{4F80DB95-12C2-4B36-87AD-364F2FE88859}" type="slidenum">
              <a:rPr lang="en-US" smtClean="0"/>
              <a:t>3</a:t>
            </a:fld>
            <a:endParaRPr lang="en-US"/>
          </a:p>
        </p:txBody>
      </p:sp>
    </p:spTree>
    <p:extLst>
      <p:ext uri="{BB962C8B-B14F-4D97-AF65-F5344CB8AC3E}">
        <p14:creationId xmlns:p14="http://schemas.microsoft.com/office/powerpoint/2010/main" val="18714570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C7760-5ABB-D39E-676D-7DC88F54BE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67D9933-B5C7-C757-A77C-DAE53C431D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89FEA-11AB-A1CE-E8EF-061356CB04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142466-C76C-672F-8289-B6F449020C5E}"/>
              </a:ext>
            </a:extLst>
          </p:cNvPr>
          <p:cNvSpPr>
            <a:spLocks noGrp="1"/>
          </p:cNvSpPr>
          <p:nvPr>
            <p:ph type="sldNum" sz="quarter" idx="10"/>
          </p:nvPr>
        </p:nvSpPr>
        <p:spPr/>
        <p:txBody>
          <a:bodyPr/>
          <a:lstStyle/>
          <a:p>
            <a:fld id="{4F80DB95-12C2-4B36-87AD-364F2FE88859}" type="slidenum">
              <a:rPr lang="en-US" smtClean="0"/>
              <a:t>4</a:t>
            </a:fld>
            <a:endParaRPr lang="en-US"/>
          </a:p>
        </p:txBody>
      </p:sp>
    </p:spTree>
    <p:extLst>
      <p:ext uri="{BB962C8B-B14F-4D97-AF65-F5344CB8AC3E}">
        <p14:creationId xmlns:p14="http://schemas.microsoft.com/office/powerpoint/2010/main" val="110180604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696FF-3749-A6A3-D2AC-FABFD25F6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EAF41B-C3E3-7FA5-4B49-CCD42C9358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54CD8C-CD25-A362-E560-DBB61375B7E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3E32919-0032-7C10-1F80-33B82CD24652}"/>
              </a:ext>
            </a:extLst>
          </p:cNvPr>
          <p:cNvSpPr>
            <a:spLocks noGrp="1"/>
          </p:cNvSpPr>
          <p:nvPr>
            <p:ph type="sldNum" sz="quarter" idx="10"/>
          </p:nvPr>
        </p:nvSpPr>
        <p:spPr/>
        <p:txBody>
          <a:bodyPr/>
          <a:lstStyle/>
          <a:p>
            <a:fld id="{4F80DB95-12C2-4B36-87AD-364F2FE88859}" type="slidenum">
              <a:rPr lang="en-US" smtClean="0"/>
              <a:t>5</a:t>
            </a:fld>
            <a:endParaRPr lang="en-US"/>
          </a:p>
        </p:txBody>
      </p:sp>
    </p:spTree>
    <p:extLst>
      <p:ext uri="{BB962C8B-B14F-4D97-AF65-F5344CB8AC3E}">
        <p14:creationId xmlns:p14="http://schemas.microsoft.com/office/powerpoint/2010/main" val="351280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25639-CF0C-9A09-4EC5-F4AB891954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63C68C-CFD3-A72E-D92F-7DCA6486E0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77C415-95C7-8D69-0E28-368AF9DA23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5754472-DCA1-8D19-0AAB-3CD4F033B6CC}"/>
              </a:ext>
            </a:extLst>
          </p:cNvPr>
          <p:cNvSpPr>
            <a:spLocks noGrp="1"/>
          </p:cNvSpPr>
          <p:nvPr>
            <p:ph type="sldNum" sz="quarter" idx="10"/>
          </p:nvPr>
        </p:nvSpPr>
        <p:spPr/>
        <p:txBody>
          <a:bodyPr/>
          <a:lstStyle/>
          <a:p>
            <a:fld id="{4F80DB95-12C2-4B36-87AD-364F2FE88859}" type="slidenum">
              <a:rPr lang="en-US" smtClean="0"/>
              <a:t>6</a:t>
            </a:fld>
            <a:endParaRPr lang="en-US"/>
          </a:p>
        </p:txBody>
      </p:sp>
    </p:spTree>
    <p:extLst>
      <p:ext uri="{BB962C8B-B14F-4D97-AF65-F5344CB8AC3E}">
        <p14:creationId xmlns:p14="http://schemas.microsoft.com/office/powerpoint/2010/main" val="6627046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47269A-6448-A0DA-4FE4-683EA5CF9F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0B5695-E475-5ECC-4989-8F7EBDFB4F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DFE887-F6F9-2E0C-7C88-78F61B3C19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0269489-8055-BF31-1982-EE08C5A75E05}"/>
              </a:ext>
            </a:extLst>
          </p:cNvPr>
          <p:cNvSpPr>
            <a:spLocks noGrp="1"/>
          </p:cNvSpPr>
          <p:nvPr>
            <p:ph type="sldNum" sz="quarter" idx="10"/>
          </p:nvPr>
        </p:nvSpPr>
        <p:spPr/>
        <p:txBody>
          <a:bodyPr/>
          <a:lstStyle/>
          <a:p>
            <a:fld id="{4F80DB95-12C2-4B36-87AD-364F2FE88859}" type="slidenum">
              <a:rPr lang="en-US" smtClean="0"/>
              <a:t>7</a:t>
            </a:fld>
            <a:endParaRPr lang="en-US"/>
          </a:p>
        </p:txBody>
      </p:sp>
    </p:spTree>
    <p:extLst>
      <p:ext uri="{BB962C8B-B14F-4D97-AF65-F5344CB8AC3E}">
        <p14:creationId xmlns:p14="http://schemas.microsoft.com/office/powerpoint/2010/main" val="1895916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21E21-AC12-2E18-266B-C7D335A3C5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37006F-2E60-5ECF-BB15-E9E0DE8876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E019CD9-8E4A-2B91-752E-C2C5463DDEA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809E2A0-71A9-D68A-EB85-6159CABADFAE}"/>
              </a:ext>
            </a:extLst>
          </p:cNvPr>
          <p:cNvSpPr>
            <a:spLocks noGrp="1"/>
          </p:cNvSpPr>
          <p:nvPr>
            <p:ph type="sldNum" sz="quarter" idx="10"/>
          </p:nvPr>
        </p:nvSpPr>
        <p:spPr/>
        <p:txBody>
          <a:bodyPr/>
          <a:lstStyle/>
          <a:p>
            <a:fld id="{4F80DB95-12C2-4B36-87AD-364F2FE88859}" type="slidenum">
              <a:rPr lang="en-US" smtClean="0"/>
              <a:t>8</a:t>
            </a:fld>
            <a:endParaRPr lang="en-US"/>
          </a:p>
        </p:txBody>
      </p:sp>
    </p:spTree>
    <p:extLst>
      <p:ext uri="{BB962C8B-B14F-4D97-AF65-F5344CB8AC3E}">
        <p14:creationId xmlns:p14="http://schemas.microsoft.com/office/powerpoint/2010/main" val="3258787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993EB-C461-B3C0-33D7-9C92CE5DEC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B2E2FA-31F3-07FE-BD08-36683E6A1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C519F3-04E4-30A1-01DD-E9491FDD1BA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1E231FA-8D51-145D-98B3-8F80C2D90DD4}"/>
              </a:ext>
            </a:extLst>
          </p:cNvPr>
          <p:cNvSpPr>
            <a:spLocks noGrp="1"/>
          </p:cNvSpPr>
          <p:nvPr>
            <p:ph type="sldNum" sz="quarter" idx="10"/>
          </p:nvPr>
        </p:nvSpPr>
        <p:spPr/>
        <p:txBody>
          <a:bodyPr/>
          <a:lstStyle/>
          <a:p>
            <a:fld id="{4F80DB95-12C2-4B36-87AD-364F2FE88859}" type="slidenum">
              <a:rPr lang="en-US" smtClean="0"/>
              <a:t>9</a:t>
            </a:fld>
            <a:endParaRPr lang="en-US"/>
          </a:p>
        </p:txBody>
      </p:sp>
    </p:spTree>
    <p:extLst>
      <p:ext uri="{BB962C8B-B14F-4D97-AF65-F5344CB8AC3E}">
        <p14:creationId xmlns:p14="http://schemas.microsoft.com/office/powerpoint/2010/main" val="147482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3B26E-EFE0-07A8-D23E-C534D519E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10044A7-9D1A-0E92-FE54-FFB5EAB9B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99246-BE89-2F6D-0F5F-BA093B4264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9CD8EC3-C057-4CE3-5619-E132487933CE}"/>
              </a:ext>
            </a:extLst>
          </p:cNvPr>
          <p:cNvSpPr>
            <a:spLocks noGrp="1"/>
          </p:cNvSpPr>
          <p:nvPr>
            <p:ph type="sldNum" sz="quarter" idx="10"/>
          </p:nvPr>
        </p:nvSpPr>
        <p:spPr/>
        <p:txBody>
          <a:bodyPr/>
          <a:lstStyle/>
          <a:p>
            <a:fld id="{4F80DB95-12C2-4B36-87AD-364F2FE88859}" type="slidenum">
              <a:rPr lang="en-US" smtClean="0"/>
              <a:t>10</a:t>
            </a:fld>
            <a:endParaRPr lang="en-US"/>
          </a:p>
        </p:txBody>
      </p:sp>
    </p:spTree>
    <p:extLst>
      <p:ext uri="{BB962C8B-B14F-4D97-AF65-F5344CB8AC3E}">
        <p14:creationId xmlns:p14="http://schemas.microsoft.com/office/powerpoint/2010/main" val="15109887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C2DC58-404A-FE6B-F50E-28DB2E739F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8F295F-980B-B377-6CDD-DA33CDBA916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B2710C-49B4-18B1-84E9-422AB7BE639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3AE61FD-F356-4AA7-9286-06FC35464CE9}"/>
              </a:ext>
            </a:extLst>
          </p:cNvPr>
          <p:cNvSpPr>
            <a:spLocks noGrp="1"/>
          </p:cNvSpPr>
          <p:nvPr>
            <p:ph type="sldNum" sz="quarter" idx="10"/>
          </p:nvPr>
        </p:nvSpPr>
        <p:spPr/>
        <p:txBody>
          <a:bodyPr/>
          <a:lstStyle/>
          <a:p>
            <a:fld id="{4F80DB95-12C2-4B36-87AD-364F2FE88859}" type="slidenum">
              <a:rPr lang="en-US" smtClean="0"/>
              <a:t>11</a:t>
            </a:fld>
            <a:endParaRPr lang="en-US"/>
          </a:p>
        </p:txBody>
      </p:sp>
    </p:spTree>
    <p:extLst>
      <p:ext uri="{BB962C8B-B14F-4D97-AF65-F5344CB8AC3E}">
        <p14:creationId xmlns:p14="http://schemas.microsoft.com/office/powerpoint/2010/main" val="39324270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9EBA4D-5FC9-4003-DCB9-241C99FCDC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540961-C1D1-AC60-E5F9-9AEB43331D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A17595-8AEE-99B5-4431-75389C8F10A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A64DF4D-AD07-3956-CE00-518CD6953C9B}"/>
              </a:ext>
            </a:extLst>
          </p:cNvPr>
          <p:cNvSpPr>
            <a:spLocks noGrp="1"/>
          </p:cNvSpPr>
          <p:nvPr>
            <p:ph type="sldNum" sz="quarter" idx="10"/>
          </p:nvPr>
        </p:nvSpPr>
        <p:spPr/>
        <p:txBody>
          <a:bodyPr/>
          <a:lstStyle/>
          <a:p>
            <a:fld id="{4F80DB95-12C2-4B36-87AD-364F2FE88859}" type="slidenum">
              <a:rPr lang="en-US" smtClean="0"/>
              <a:t>12</a:t>
            </a:fld>
            <a:endParaRPr lang="en-US"/>
          </a:p>
        </p:txBody>
      </p:sp>
    </p:spTree>
    <p:extLst>
      <p:ext uri="{BB962C8B-B14F-4D97-AF65-F5344CB8AC3E}">
        <p14:creationId xmlns:p14="http://schemas.microsoft.com/office/powerpoint/2010/main" val="36860795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2FA66-0D5A-B4A2-7328-54B174ADE6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45DF2-BD48-4811-FEB4-FB183F2C7E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FB9791-3CD7-FFF2-4577-0D103F437EE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E4CB9A8-D89F-8BED-C085-445FEED64C9D}"/>
              </a:ext>
            </a:extLst>
          </p:cNvPr>
          <p:cNvSpPr>
            <a:spLocks noGrp="1"/>
          </p:cNvSpPr>
          <p:nvPr>
            <p:ph type="sldNum" sz="quarter" idx="10"/>
          </p:nvPr>
        </p:nvSpPr>
        <p:spPr/>
        <p:txBody>
          <a:bodyPr/>
          <a:lstStyle/>
          <a:p>
            <a:fld id="{4F80DB95-12C2-4B36-87AD-364F2FE88859}" type="slidenum">
              <a:rPr lang="en-US" smtClean="0"/>
              <a:t>13</a:t>
            </a:fld>
            <a:endParaRPr lang="en-US"/>
          </a:p>
        </p:txBody>
      </p:sp>
    </p:spTree>
    <p:extLst>
      <p:ext uri="{BB962C8B-B14F-4D97-AF65-F5344CB8AC3E}">
        <p14:creationId xmlns:p14="http://schemas.microsoft.com/office/powerpoint/2010/main" val="21687689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3A1C593-65D0-4073-BCC9-577B9352EA9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A1C593-65D0-4073-BCC9-577B9352EA9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A1C593-65D0-4073-BCC9-577B9352EA97}"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3A1C593-65D0-4073-BCC9-577B9352EA97}"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3A1C593-65D0-4073-BCC9-577B9352EA97}"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3A1C593-65D0-4073-BCC9-577B9352EA97}"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3A1C593-65D0-4073-BCC9-577B9352EA97}"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t>11/3/2025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4.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p:cNvSpPr>
            <a:spLocks noGrp="1"/>
          </p:cNvSpPr>
          <p:nvPr/>
        </p:nvSpPr>
        <p:spPr>
          <a:xfrm>
            <a:off x="99383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0" name="Title 1"/>
          <p:cNvSpPr txBox="1"/>
          <p:nvPr/>
        </p:nvSpPr>
        <p:spPr>
          <a:xfrm>
            <a:off x="1195159" y="2573482"/>
            <a:ext cx="9890475" cy="1402417"/>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4400" kern="1200" baseline="0">
                <a:solidFill>
                  <a:schemeClr val="tx1"/>
                </a:solidFill>
                <a:latin typeface="Times New Roman" panose="02020603050405020304" pitchFamily="18" charset="0"/>
                <a:ea typeface="+mj-ea"/>
                <a:cs typeface="Times New Roman" panose="02020603050405020304" pitchFamily="18" charset="0"/>
              </a:defRPr>
            </a:lvl1pPr>
          </a:lstStyle>
          <a:p>
            <a:pPr marL="342900" indent="-342900" algn="l">
              <a:buFont typeface="Wingdings" panose="05000000000000000000" pitchFamily="2" charset="2"/>
              <a:buChar char="§"/>
            </a:pPr>
            <a:endParaRPr lang="en-US" sz="3200" dirty="0">
              <a:solidFill>
                <a:srgbClr val="002060"/>
              </a:solidFill>
              <a:latin typeface="+mn-lt"/>
            </a:endParaRPr>
          </a:p>
          <a:p>
            <a:pPr marL="342900" indent="-342900" algn="l">
              <a:lnSpc>
                <a:spcPct val="100000"/>
              </a:lnSpc>
              <a:buFont typeface="Wingdings" panose="05000000000000000000" pitchFamily="2" charset="2"/>
              <a:buChar char="§"/>
            </a:pPr>
            <a:endParaRPr lang="en-US" sz="3200" dirty="0">
              <a:solidFill>
                <a:srgbClr val="002060"/>
              </a:solidFill>
              <a:latin typeface="+mn-lt"/>
            </a:endParaRPr>
          </a:p>
          <a:p>
            <a:pPr algn="l">
              <a:lnSpc>
                <a:spcPct val="100000"/>
              </a:lnSpc>
            </a:pPr>
            <a:endParaRPr lang="en-US" sz="2400" dirty="0">
              <a:solidFill>
                <a:srgbClr val="FF0000"/>
              </a:solidFill>
            </a:endParaRPr>
          </a:p>
          <a:p>
            <a:endParaRPr lang="en-IN" sz="2400" dirty="0">
              <a:solidFill>
                <a:srgbClr val="FF0000"/>
              </a:solidFill>
            </a:endParaRPr>
          </a:p>
          <a:p>
            <a:endParaRPr lang="en-IN" sz="2400" dirty="0">
              <a:solidFill>
                <a:srgbClr val="FF0000"/>
              </a:solidFill>
            </a:endParaRPr>
          </a:p>
          <a:p>
            <a:r>
              <a:rPr lang="en-US" sz="2400" dirty="0">
                <a:solidFill>
                  <a:srgbClr val="FF0000"/>
                </a:solidFill>
              </a:rPr>
              <a:t>IOT-ENABLED SOLAR POWERED DEEP LEARNING MODEL FOR RAINFALL PREDICTION AND AUTONOMOUS IRRIGATION.</a:t>
            </a:r>
          </a:p>
          <a:p>
            <a:endParaRPr lang="en-US" sz="2400" dirty="0">
              <a:solidFill>
                <a:srgbClr val="FF0000"/>
              </a:solidFill>
            </a:endParaRPr>
          </a:p>
          <a:p>
            <a:r>
              <a:rPr lang="en-US" sz="2000" kern="1200" baseline="0" dirty="0">
                <a:solidFill>
                  <a:srgbClr val="002060"/>
                </a:solidFill>
                <a:latin typeface="+mn-lt"/>
              </a:rPr>
              <a:t>B23EET503-PROJECT PHASE I</a:t>
            </a:r>
          </a:p>
        </p:txBody>
      </p:sp>
      <p:sp>
        <p:nvSpPr>
          <p:cNvPr id="26" name="Text Box 25"/>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sp>
        <p:nvSpPr>
          <p:cNvPr id="2" name="Rectangle 1">
            <a:extLst>
              <a:ext uri="{FF2B5EF4-FFF2-40B4-BE49-F238E27FC236}">
                <a16:creationId xmlns:a16="http://schemas.microsoft.com/office/drawing/2014/main" id="{E04C2307-B2AA-B8A6-AD73-456CF1A4A724}"/>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8" name="Text Box 27"/>
          <p:cNvSpPr txBox="1"/>
          <p:nvPr/>
        </p:nvSpPr>
        <p:spPr>
          <a:xfrm>
            <a:off x="1340708" y="-73615"/>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IN" b="1" spc="-105" dirty="0">
                <a:solidFill>
                  <a:srgbClr val="E0343B"/>
                </a:solidFill>
                <a:latin typeface="Times New Roman"/>
                <a:cs typeface="Times New Roman"/>
              </a:rPr>
              <a:t>KIT-</a:t>
            </a:r>
            <a:r>
              <a:rPr lang="en-IN" b="1" spc="-25" dirty="0">
                <a:solidFill>
                  <a:srgbClr val="E0343B"/>
                </a:solidFill>
                <a:latin typeface="Times New Roman"/>
                <a:cs typeface="Times New Roman"/>
              </a:rPr>
              <a:t>KALAIGNARKARUNANIDHI</a:t>
            </a:r>
            <a:r>
              <a:rPr lang="en-IN" b="1" spc="-114" dirty="0">
                <a:solidFill>
                  <a:srgbClr val="E0343B"/>
                </a:solidFill>
                <a:latin typeface="Times New Roman"/>
                <a:cs typeface="Times New Roman"/>
              </a:rPr>
              <a:t> </a:t>
            </a:r>
            <a:r>
              <a:rPr lang="en-IN" b="1" dirty="0">
                <a:solidFill>
                  <a:srgbClr val="E0343B"/>
                </a:solidFill>
                <a:latin typeface="Times New Roman"/>
                <a:cs typeface="Times New Roman"/>
              </a:rPr>
              <a:t>INSTITUTE</a:t>
            </a:r>
            <a:r>
              <a:rPr lang="en-IN" b="1" spc="-50" dirty="0">
                <a:solidFill>
                  <a:srgbClr val="E0343B"/>
                </a:solidFill>
                <a:latin typeface="Times New Roman"/>
                <a:cs typeface="Times New Roman"/>
              </a:rPr>
              <a:t> </a:t>
            </a:r>
            <a:r>
              <a:rPr lang="en-IN" b="1" spc="-30" dirty="0">
                <a:solidFill>
                  <a:srgbClr val="E0343B"/>
                </a:solidFill>
                <a:latin typeface="Times New Roman"/>
                <a:cs typeface="Times New Roman"/>
              </a:rPr>
              <a:t>OF</a:t>
            </a:r>
            <a:r>
              <a:rPr lang="en-IN" b="1" spc="-180" dirty="0">
                <a:solidFill>
                  <a:srgbClr val="E0343B"/>
                </a:solidFill>
                <a:latin typeface="Times New Roman"/>
                <a:cs typeface="Times New Roman"/>
              </a:rPr>
              <a:t> </a:t>
            </a:r>
            <a:r>
              <a:rPr lang="en-IN" b="1" spc="-10" dirty="0">
                <a:solidFill>
                  <a:srgbClr val="E0343B"/>
                </a:solidFill>
                <a:latin typeface="Times New Roman"/>
                <a:cs typeface="Times New Roman"/>
              </a:rPr>
              <a:t>TECHNOLOGY    </a:t>
            </a:r>
          </a:p>
          <a:p>
            <a:pPr algn="ctr"/>
            <a:r>
              <a:rPr lang="en-IN" b="1" spc="-10" dirty="0">
                <a:solidFill>
                  <a:srgbClr val="E0343B"/>
                </a:solidFill>
                <a:latin typeface="Times New Roman"/>
                <a:cs typeface="Times New Roman"/>
              </a:rPr>
              <a:t>                                    COIMBATORE - 641402               </a:t>
            </a:r>
            <a:r>
              <a:rPr lang="en-IN" b="1" spc="-40" dirty="0">
                <a:solidFill>
                  <a:srgbClr val="E0343B"/>
                </a:solidFill>
                <a:latin typeface="Times New Roman"/>
                <a:cs typeface="Times New Roman"/>
              </a:rPr>
              <a:t>  </a:t>
            </a:r>
            <a:endParaRPr lang="en-US" dirty="0">
              <a:solidFill>
                <a:srgbClr val="002060"/>
              </a:solidFill>
            </a:endParaRPr>
          </a:p>
          <a:p>
            <a:pPr marL="1262380" algn="ctr">
              <a:lnSpc>
                <a:spcPct val="100000"/>
              </a:lnSpc>
              <a:spcBef>
                <a:spcPts val="575"/>
              </a:spcBef>
            </a:pPr>
            <a:endParaRPr lang="en-US" b="1" spc="-165" dirty="0">
              <a:solidFill>
                <a:srgbClr val="373435"/>
              </a:solidFill>
              <a:latin typeface="Times New Roman" panose="02020603050405020304" pitchFamily="18" charset="0"/>
              <a:cs typeface="Times New Roman" panose="02020603050405020304" pitchFamily="18" charset="0"/>
            </a:endParaRPr>
          </a:p>
          <a:p>
            <a:pPr marL="1262380" algn="ctr">
              <a:lnSpc>
                <a:spcPct val="100000"/>
              </a:lnSpc>
              <a:spcBef>
                <a:spcPts val="575"/>
              </a:spcBef>
            </a:pPr>
            <a:r>
              <a:rPr lang="en-US" b="1" spc="-165" dirty="0">
                <a:solidFill>
                  <a:srgbClr val="373435"/>
                </a:solidFill>
                <a:latin typeface="Times New Roman" panose="02020603050405020304" pitchFamily="18" charset="0"/>
                <a:cs typeface="Times New Roman" panose="02020603050405020304" pitchFamily="18" charset="0"/>
              </a:rPr>
              <a:t>Approved</a:t>
            </a:r>
            <a:r>
              <a:rPr lang="en-US" b="1" spc="-35" dirty="0">
                <a:solidFill>
                  <a:srgbClr val="373435"/>
                </a:solidFill>
                <a:latin typeface="Times New Roman" panose="02020603050405020304" pitchFamily="18" charset="0"/>
                <a:cs typeface="Times New Roman" panose="02020603050405020304" pitchFamily="18" charset="0"/>
              </a:rPr>
              <a:t> </a:t>
            </a:r>
            <a:r>
              <a:rPr lang="en-US" b="1" spc="-170" dirty="0">
                <a:solidFill>
                  <a:srgbClr val="373435"/>
                </a:solidFill>
                <a:latin typeface="Times New Roman" panose="02020603050405020304" pitchFamily="18" charset="0"/>
                <a:cs typeface="Times New Roman" panose="02020603050405020304" pitchFamily="18" charset="0"/>
              </a:rPr>
              <a:t>by</a:t>
            </a:r>
            <a:r>
              <a:rPr lang="en-US" b="1" spc="-40" dirty="0">
                <a:solidFill>
                  <a:srgbClr val="373435"/>
                </a:solidFill>
                <a:latin typeface="Times New Roman" panose="02020603050405020304" pitchFamily="18" charset="0"/>
                <a:cs typeface="Times New Roman" panose="02020603050405020304" pitchFamily="18" charset="0"/>
              </a:rPr>
              <a:t> </a:t>
            </a:r>
            <a:r>
              <a:rPr lang="en-US" b="1" dirty="0">
                <a:solidFill>
                  <a:srgbClr val="373435"/>
                </a:solidFill>
                <a:latin typeface="Times New Roman" panose="02020603050405020304" pitchFamily="18" charset="0"/>
                <a:cs typeface="Times New Roman" panose="02020603050405020304" pitchFamily="18" charset="0"/>
              </a:rPr>
              <a:t>AICTE</a:t>
            </a:r>
            <a:r>
              <a:rPr lang="en-US" b="1" spc="-35" dirty="0">
                <a:solidFill>
                  <a:srgbClr val="373435"/>
                </a:solidFill>
                <a:latin typeface="Times New Roman" panose="02020603050405020304" pitchFamily="18" charset="0"/>
                <a:cs typeface="Times New Roman" panose="02020603050405020304" pitchFamily="18" charset="0"/>
              </a:rPr>
              <a:t> </a:t>
            </a:r>
            <a:r>
              <a:rPr lang="en-US" b="1" spc="-80" dirty="0">
                <a:solidFill>
                  <a:srgbClr val="373435"/>
                </a:solidFill>
                <a:latin typeface="Times New Roman" panose="02020603050405020304" pitchFamily="18" charset="0"/>
                <a:cs typeface="Times New Roman" panose="02020603050405020304" pitchFamily="18" charset="0"/>
              </a:rPr>
              <a:t>Affiliated</a:t>
            </a:r>
            <a:r>
              <a:rPr lang="en-US" b="1" spc="-5" dirty="0">
                <a:solidFill>
                  <a:srgbClr val="373435"/>
                </a:solidFill>
                <a:latin typeface="Times New Roman" panose="02020603050405020304" pitchFamily="18" charset="0"/>
                <a:cs typeface="Times New Roman" panose="02020603050405020304" pitchFamily="18" charset="0"/>
              </a:rPr>
              <a:t> </a:t>
            </a:r>
            <a:r>
              <a:rPr lang="en-US" b="1" spc="-155" dirty="0">
                <a:solidFill>
                  <a:srgbClr val="373435"/>
                </a:solidFill>
                <a:latin typeface="Times New Roman" panose="02020603050405020304" pitchFamily="18" charset="0"/>
                <a:cs typeface="Times New Roman" panose="02020603050405020304" pitchFamily="18" charset="0"/>
              </a:rPr>
              <a:t>to</a:t>
            </a:r>
            <a:r>
              <a:rPr lang="en-US" b="1" spc="-35" dirty="0">
                <a:solidFill>
                  <a:srgbClr val="373435"/>
                </a:solidFill>
                <a:latin typeface="Times New Roman" panose="02020603050405020304" pitchFamily="18" charset="0"/>
                <a:cs typeface="Times New Roman" panose="02020603050405020304" pitchFamily="18" charset="0"/>
              </a:rPr>
              <a:t> </a:t>
            </a:r>
            <a:r>
              <a:rPr lang="en-US" b="1" spc="-114" dirty="0">
                <a:solidFill>
                  <a:srgbClr val="373435"/>
                </a:solidFill>
                <a:latin typeface="Times New Roman" panose="02020603050405020304" pitchFamily="18" charset="0"/>
                <a:cs typeface="Times New Roman" panose="02020603050405020304" pitchFamily="18" charset="0"/>
              </a:rPr>
              <a:t>Anna University,</a:t>
            </a:r>
            <a:r>
              <a:rPr lang="en-US" b="1" spc="10" dirty="0">
                <a:solidFill>
                  <a:srgbClr val="373435"/>
                </a:solidFill>
                <a:latin typeface="Times New Roman" panose="02020603050405020304" pitchFamily="18" charset="0"/>
                <a:cs typeface="Times New Roman" panose="02020603050405020304" pitchFamily="18" charset="0"/>
              </a:rPr>
              <a:t> </a:t>
            </a:r>
            <a:r>
              <a:rPr lang="en-US" b="1" spc="-114" dirty="0">
                <a:solidFill>
                  <a:srgbClr val="373435"/>
                </a:solidFill>
                <a:latin typeface="Times New Roman" panose="02020603050405020304" pitchFamily="18" charset="0"/>
                <a:cs typeface="Times New Roman" panose="02020603050405020304" pitchFamily="18" charset="0"/>
              </a:rPr>
              <a:t>Chennai</a:t>
            </a:r>
            <a:r>
              <a:rPr lang="en-US" b="1" spc="-20" dirty="0">
                <a:solidFill>
                  <a:srgbClr val="373435"/>
                </a:solidFill>
                <a:latin typeface="Times New Roman" panose="02020603050405020304" pitchFamily="18" charset="0"/>
                <a:cs typeface="Times New Roman" panose="02020603050405020304" pitchFamily="18" charset="0"/>
              </a:rPr>
              <a:t> </a:t>
            </a:r>
            <a:r>
              <a:rPr lang="en-US" b="1" spc="-120" dirty="0">
                <a:solidFill>
                  <a:srgbClr val="373435"/>
                </a:solidFill>
                <a:latin typeface="Times New Roman" panose="02020603050405020304" pitchFamily="18" charset="0"/>
                <a:cs typeface="Times New Roman" panose="02020603050405020304" pitchFamily="18" charset="0"/>
              </a:rPr>
              <a:t>Accredited</a:t>
            </a:r>
            <a:r>
              <a:rPr lang="en-US" b="1" spc="-30" dirty="0">
                <a:solidFill>
                  <a:srgbClr val="373435"/>
                </a:solidFill>
                <a:latin typeface="Times New Roman" panose="02020603050405020304" pitchFamily="18" charset="0"/>
                <a:cs typeface="Times New Roman" panose="02020603050405020304" pitchFamily="18" charset="0"/>
              </a:rPr>
              <a:t> </a:t>
            </a:r>
            <a:r>
              <a:rPr lang="en-US" b="1" spc="-10" dirty="0" err="1">
                <a:solidFill>
                  <a:srgbClr val="373435"/>
                </a:solidFill>
                <a:latin typeface="Times New Roman" panose="02020603050405020304" pitchFamily="18" charset="0"/>
                <a:cs typeface="Times New Roman" panose="02020603050405020304" pitchFamily="18" charset="0"/>
              </a:rPr>
              <a:t>With‘A’Grade</a:t>
            </a:r>
            <a:endParaRPr lang="en-US" dirty="0">
              <a:latin typeface="Times New Roman" panose="02020603050405020304" pitchFamily="18" charset="0"/>
              <a:cs typeface="Times New Roman" panose="02020603050405020304" pitchFamily="18" charset="0"/>
            </a:endParaRPr>
          </a:p>
          <a:p>
            <a:pPr marL="1263650" algn="ctr">
              <a:lnSpc>
                <a:spcPct val="100000"/>
              </a:lnSpc>
              <a:spcBef>
                <a:spcPts val="480"/>
              </a:spcBef>
            </a:pPr>
            <a:r>
              <a:rPr lang="en-US" b="1" spc="-170" dirty="0">
                <a:solidFill>
                  <a:srgbClr val="373435"/>
                </a:solidFill>
                <a:latin typeface="Times New Roman" panose="02020603050405020304" pitchFamily="18" charset="0"/>
                <a:cs typeface="Times New Roman" panose="02020603050405020304" pitchFamily="18" charset="0"/>
              </a:rPr>
              <a:t>by</a:t>
            </a:r>
            <a:r>
              <a:rPr lang="en-US" b="1" spc="-75" dirty="0">
                <a:solidFill>
                  <a:srgbClr val="373435"/>
                </a:solidFill>
                <a:latin typeface="Times New Roman" panose="02020603050405020304" pitchFamily="18" charset="0"/>
                <a:cs typeface="Times New Roman" panose="02020603050405020304" pitchFamily="18" charset="0"/>
              </a:rPr>
              <a:t> </a:t>
            </a:r>
            <a:r>
              <a:rPr lang="en-US" b="1" spc="-95" dirty="0">
                <a:solidFill>
                  <a:srgbClr val="373435"/>
                </a:solidFill>
                <a:latin typeface="Times New Roman" panose="02020603050405020304" pitchFamily="18" charset="0"/>
                <a:cs typeface="Times New Roman" panose="02020603050405020304" pitchFamily="18" charset="0"/>
              </a:rPr>
              <a:t>NAAC</a:t>
            </a:r>
            <a:r>
              <a:rPr lang="en-US" b="1" spc="-70" dirty="0">
                <a:solidFill>
                  <a:srgbClr val="373435"/>
                </a:solidFill>
                <a:latin typeface="Times New Roman" panose="02020603050405020304" pitchFamily="18" charset="0"/>
                <a:cs typeface="Times New Roman" panose="02020603050405020304" pitchFamily="18" charset="0"/>
              </a:rPr>
              <a:t> </a:t>
            </a:r>
            <a:r>
              <a:rPr lang="en-US" b="1" spc="-229" dirty="0">
                <a:solidFill>
                  <a:srgbClr val="373435"/>
                </a:solidFill>
                <a:latin typeface="Times New Roman" panose="02020603050405020304" pitchFamily="18" charset="0"/>
                <a:cs typeface="Times New Roman" panose="02020603050405020304" pitchFamily="18" charset="0"/>
              </a:rPr>
              <a:t>&amp;</a:t>
            </a:r>
            <a:r>
              <a:rPr lang="en-US" b="1" spc="-60" dirty="0">
                <a:solidFill>
                  <a:srgbClr val="373435"/>
                </a:solidFill>
                <a:latin typeface="Times New Roman" panose="02020603050405020304" pitchFamily="18" charset="0"/>
                <a:cs typeface="Times New Roman" panose="02020603050405020304" pitchFamily="18" charset="0"/>
              </a:rPr>
              <a:t> </a:t>
            </a:r>
            <a:r>
              <a:rPr lang="en-US" b="1" spc="-105" dirty="0">
                <a:solidFill>
                  <a:srgbClr val="373435"/>
                </a:solidFill>
                <a:latin typeface="Times New Roman" panose="02020603050405020304" pitchFamily="18" charset="0"/>
                <a:cs typeface="Times New Roman" panose="02020603050405020304" pitchFamily="18" charset="0"/>
              </a:rPr>
              <a:t>By</a:t>
            </a:r>
            <a:r>
              <a:rPr lang="en-US" b="1" spc="-65" dirty="0">
                <a:solidFill>
                  <a:srgbClr val="373435"/>
                </a:solidFill>
                <a:latin typeface="Times New Roman" panose="02020603050405020304" pitchFamily="18" charset="0"/>
                <a:cs typeface="Times New Roman" panose="02020603050405020304" pitchFamily="18" charset="0"/>
              </a:rPr>
              <a:t> </a:t>
            </a:r>
            <a:r>
              <a:rPr lang="en-US" b="1" spc="-25" dirty="0">
                <a:solidFill>
                  <a:srgbClr val="373435"/>
                </a:solidFill>
                <a:latin typeface="Times New Roman" panose="02020603050405020304" pitchFamily="18" charset="0"/>
                <a:cs typeface="Times New Roman" panose="02020603050405020304" pitchFamily="18" charset="0"/>
              </a:rPr>
              <a:t>NBA</a:t>
            </a:r>
          </a:p>
          <a:p>
            <a:pPr marL="1263650" algn="ctr">
              <a:lnSpc>
                <a:spcPct val="100000"/>
              </a:lnSpc>
              <a:spcBef>
                <a:spcPts val="480"/>
              </a:spcBef>
            </a:pPr>
            <a:endParaRPr lang="en-US" dirty="0">
              <a:latin typeface="Times New Roman" panose="02020603050405020304" pitchFamily="18" charset="0"/>
              <a:cs typeface="Times New Roman" panose="02020603050405020304" pitchFamily="18" charset="0"/>
            </a:endParaRPr>
          </a:p>
          <a:p>
            <a:pPr algn="ctr"/>
            <a:r>
              <a:rPr lang="en-US" b="1" spc="-10" dirty="0">
                <a:solidFill>
                  <a:srgbClr val="6029CE"/>
                </a:solidFill>
                <a:latin typeface="Times New Roman"/>
                <a:cs typeface="Times New Roman"/>
              </a:rPr>
              <a:t>DEPARTMENT</a:t>
            </a:r>
            <a:r>
              <a:rPr lang="en-US" b="1" spc="35" dirty="0">
                <a:solidFill>
                  <a:srgbClr val="6029CE"/>
                </a:solidFill>
                <a:latin typeface="Times New Roman"/>
                <a:cs typeface="Times New Roman"/>
              </a:rPr>
              <a:t> </a:t>
            </a:r>
            <a:r>
              <a:rPr lang="en-US" b="1" dirty="0">
                <a:solidFill>
                  <a:srgbClr val="6029CE"/>
                </a:solidFill>
                <a:latin typeface="Times New Roman"/>
                <a:cs typeface="Times New Roman"/>
              </a:rPr>
              <a:t>OF</a:t>
            </a:r>
            <a:r>
              <a:rPr lang="en-US" b="1" spc="-70" dirty="0">
                <a:solidFill>
                  <a:srgbClr val="6029CE"/>
                </a:solidFill>
                <a:latin typeface="Times New Roman"/>
                <a:cs typeface="Times New Roman"/>
              </a:rPr>
              <a:t> </a:t>
            </a:r>
            <a:r>
              <a:rPr lang="en-US" b="1" dirty="0">
                <a:solidFill>
                  <a:srgbClr val="6029CE"/>
                </a:solidFill>
                <a:latin typeface="Times New Roman"/>
                <a:cs typeface="Times New Roman"/>
              </a:rPr>
              <a:t>ELECTRICAL</a:t>
            </a:r>
            <a:r>
              <a:rPr lang="en-US" b="1" spc="-229" dirty="0">
                <a:solidFill>
                  <a:srgbClr val="6029CE"/>
                </a:solidFill>
                <a:latin typeface="Times New Roman"/>
                <a:cs typeface="Times New Roman"/>
              </a:rPr>
              <a:t>  </a:t>
            </a:r>
            <a:r>
              <a:rPr lang="en-US" b="1" dirty="0">
                <a:solidFill>
                  <a:srgbClr val="6029CE"/>
                </a:solidFill>
                <a:latin typeface="Times New Roman"/>
                <a:cs typeface="Times New Roman"/>
              </a:rPr>
              <a:t>AND</a:t>
            </a:r>
            <a:r>
              <a:rPr lang="en-US" b="1" spc="80" dirty="0">
                <a:solidFill>
                  <a:srgbClr val="6029CE"/>
                </a:solidFill>
                <a:latin typeface="Times New Roman"/>
                <a:cs typeface="Times New Roman"/>
              </a:rPr>
              <a:t> </a:t>
            </a:r>
            <a:r>
              <a:rPr lang="en-US" b="1" dirty="0">
                <a:solidFill>
                  <a:srgbClr val="6029CE"/>
                </a:solidFill>
                <a:latin typeface="Times New Roman"/>
                <a:cs typeface="Times New Roman"/>
              </a:rPr>
              <a:t>ELECTRONICS</a:t>
            </a:r>
            <a:r>
              <a:rPr lang="en-US" b="1" spc="95" dirty="0">
                <a:solidFill>
                  <a:srgbClr val="6029CE"/>
                </a:solidFill>
                <a:latin typeface="Times New Roman"/>
                <a:cs typeface="Times New Roman"/>
              </a:rPr>
              <a:t> </a:t>
            </a:r>
            <a:r>
              <a:rPr lang="en-US" b="1" spc="-10" dirty="0">
                <a:solidFill>
                  <a:srgbClr val="6029CE"/>
                </a:solidFill>
                <a:latin typeface="Times New Roman"/>
                <a:cs typeface="Times New Roman"/>
              </a:rPr>
              <a:t>ENGINEERING</a:t>
            </a:r>
            <a:endParaRPr lang="en-US" dirty="0"/>
          </a:p>
        </p:txBody>
      </p:sp>
      <p:pic>
        <p:nvPicPr>
          <p:cNvPr id="3" name="Image 2">
            <a:extLst>
              <a:ext uri="{FF2B5EF4-FFF2-40B4-BE49-F238E27FC236}">
                <a16:creationId xmlns:a16="http://schemas.microsoft.com/office/drawing/2014/main" id="{13FEC860-6B23-C32E-5F8A-9B9A508C0142}"/>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pic>
        <p:nvPicPr>
          <p:cNvPr id="5" name="Picture 4">
            <a:extLst>
              <a:ext uri="{FF2B5EF4-FFF2-40B4-BE49-F238E27FC236}">
                <a16:creationId xmlns:a16="http://schemas.microsoft.com/office/drawing/2014/main" id="{B8C0C1C7-6C3B-4EA9-355E-7EDD07DF09CD}"/>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extBox 6">
            <a:extLst>
              <a:ext uri="{FF2B5EF4-FFF2-40B4-BE49-F238E27FC236}">
                <a16:creationId xmlns:a16="http://schemas.microsoft.com/office/drawing/2014/main" id="{56F0B958-CDCC-CD4E-6366-298A2E1EE284}"/>
              </a:ext>
            </a:extLst>
          </p:cNvPr>
          <p:cNvSpPr txBox="1"/>
          <p:nvPr/>
        </p:nvSpPr>
        <p:spPr>
          <a:xfrm>
            <a:off x="8290098" y="4413380"/>
            <a:ext cx="2706743" cy="1200329"/>
          </a:xfrm>
          <a:prstGeom prst="rect">
            <a:avLst/>
          </a:prstGeom>
          <a:noFill/>
        </p:spPr>
        <p:txBody>
          <a:bodyPr wrap="square" rtlCol="0">
            <a:spAutoFit/>
          </a:bodyPr>
          <a:lstStyle/>
          <a:p>
            <a:r>
              <a:rPr lang="en-IN" dirty="0">
                <a:solidFill>
                  <a:srgbClr val="FF0000"/>
                </a:solidFill>
              </a:rPr>
              <a:t>PROJECT GUIDE</a:t>
            </a:r>
          </a:p>
          <a:p>
            <a:r>
              <a:rPr lang="en-IN" dirty="0" err="1"/>
              <a:t>Ms.REVATHI</a:t>
            </a:r>
            <a:r>
              <a:rPr lang="en-IN" dirty="0"/>
              <a:t> D</a:t>
            </a:r>
          </a:p>
          <a:p>
            <a:r>
              <a:rPr lang="en-IN" dirty="0"/>
              <a:t>AP/EEE</a:t>
            </a:r>
          </a:p>
          <a:p>
            <a:endParaRPr lang="en-IN" dirty="0"/>
          </a:p>
        </p:txBody>
      </p:sp>
      <p:sp>
        <p:nvSpPr>
          <p:cNvPr id="6" name="TextBox 5">
            <a:extLst>
              <a:ext uri="{FF2B5EF4-FFF2-40B4-BE49-F238E27FC236}">
                <a16:creationId xmlns:a16="http://schemas.microsoft.com/office/drawing/2014/main" id="{8CD53507-0934-AC44-7E4C-04324BF0E3F3}"/>
              </a:ext>
            </a:extLst>
          </p:cNvPr>
          <p:cNvSpPr txBox="1"/>
          <p:nvPr/>
        </p:nvSpPr>
        <p:spPr>
          <a:xfrm>
            <a:off x="1109447" y="4413379"/>
            <a:ext cx="4216596" cy="1200329"/>
          </a:xfrm>
          <a:prstGeom prst="rect">
            <a:avLst/>
          </a:prstGeom>
          <a:noFill/>
        </p:spPr>
        <p:txBody>
          <a:bodyPr wrap="square" rtlCol="0">
            <a:spAutoFit/>
          </a:bodyPr>
          <a:lstStyle/>
          <a:p>
            <a:r>
              <a:rPr lang="en-IN" dirty="0">
                <a:solidFill>
                  <a:srgbClr val="FF0000"/>
                </a:solidFill>
              </a:rPr>
              <a:t>TEAM MEMBERS:</a:t>
            </a:r>
          </a:p>
          <a:p>
            <a:r>
              <a:rPr lang="en-IN" dirty="0"/>
              <a:t>POOJA  P           -   711523BEE040</a:t>
            </a:r>
          </a:p>
          <a:p>
            <a:r>
              <a:rPr lang="en-IN" dirty="0"/>
              <a:t>PRITHVI GS        -   711523BEE043</a:t>
            </a:r>
          </a:p>
          <a:p>
            <a:r>
              <a:rPr lang="en-IN" dirty="0"/>
              <a:t>GURURAJAN B  -   711523BEE301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ACF673-E559-2090-B515-739982A8BBD8}"/>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111B0D7-8B6F-361E-68A7-D309B813081F}"/>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27E2126C-7286-5996-387C-5D584DB74B10}"/>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708F4E65-E2DD-105B-7070-607A95ACC7D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4C698CB9-1E58-288A-E851-6A6FB6572F47}"/>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endParaRPr>
          </a:p>
          <a:p>
            <a:pPr algn="ctr"/>
            <a:r>
              <a:rPr lang="en-US" sz="2800" dirty="0">
                <a:solidFill>
                  <a:srgbClr val="0070C0"/>
                </a:solidFill>
                <a:latin typeface="+mn-ea"/>
                <a:cs typeface="+mn-ea"/>
                <a:sym typeface="+mn-ea"/>
              </a:rPr>
              <a:t>ABSTRACT</a:t>
            </a:r>
            <a:endParaRPr lang="en-US" dirty="0"/>
          </a:p>
        </p:txBody>
      </p:sp>
      <p:sp>
        <p:nvSpPr>
          <p:cNvPr id="6" name="Rectangle 1">
            <a:extLst>
              <a:ext uri="{FF2B5EF4-FFF2-40B4-BE49-F238E27FC236}">
                <a16:creationId xmlns:a16="http://schemas.microsoft.com/office/drawing/2014/main" id="{3D9D2BD2-C358-3141-1C97-45673F8CAF49}"/>
              </a:ext>
            </a:extLst>
          </p:cNvPr>
          <p:cNvSpPr>
            <a:spLocks noGrp="1" noChangeArrowheads="1"/>
          </p:cNvSpPr>
          <p:nvPr>
            <p:ph idx="1"/>
          </p:nvPr>
        </p:nvSpPr>
        <p:spPr bwMode="auto">
          <a:xfrm>
            <a:off x="363794" y="1698493"/>
            <a:ext cx="11651225" cy="40903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fontAlgn="base">
              <a:lnSpc>
                <a:spcPct val="150000"/>
              </a:lnSpc>
              <a:spcBef>
                <a:spcPct val="0"/>
              </a:spcBef>
              <a:spcAft>
                <a:spcPct val="0"/>
              </a:spcAft>
              <a:buClrTx/>
              <a:buSzTx/>
              <a:buNone/>
              <a:tabLst/>
            </a:pPr>
            <a:r>
              <a:rPr lang="en-IN" sz="1400" dirty="0">
                <a:latin typeface="Times New Roman" panose="02020603050405020304" pitchFamily="18" charset="0"/>
                <a:cs typeface="Times New Roman" panose="02020603050405020304" pitchFamily="18" charset="0"/>
              </a:rPr>
              <a:t>               Effective irrigation practices play a crucial role as an urgent worldwide issue, particularly for regions experiencing inconsistent precipitation and scarce natural assets. Current irrigation setups frequently depend on soil moisture detectors and climate predictions; this approach may result in excessive watering, wasted resources, or missing chances for efficient irrigation. This document focuses on achieving Goal 6 of Sustainable Development Goals by introducing an IoT enabled solar-powered deep learning system designed for predicting rainfalls and managing water usage autonomously. The document introduces an intelligent watering mechanism employing advanced neural network algorithms combined with sensor technology for remote control via mixed models such as Bidirectional Long Short-Term Memory networks, Convolutional Neural Networks, Neural Prophets interfaced with decision trees, aimed at forecasting precipitation levels and minimizing water loss through autonomous Drip irrigation. The system detects precursors to rain and analyses past weather patterns for guidance on watering needs. By adopting this method, we avoid excessive watering, cut down water consumption by up to 30%-40% annually, thereby increasing crop yields significantly for better farmer livelihoods. Driven by minimal power sources like batteries and supplementary sunlight, this document exemplifies sustainability suitable for off-grid farming applications. This innovative approach offers an eco-friendly method of tracking crop performance in real time using advanced technology tailored specifically for precision agriculture, enhancing harvests without depleting precious freshwater supplies.</a:t>
            </a:r>
            <a:endParaRPr lang="en-US" altLang="en-US" sz="1400" dirty="0">
              <a:latin typeface="Times New Roman" panose="02020603050405020304" pitchFamily="18" charset="0"/>
              <a:ea typeface="+mj-ea"/>
              <a:cs typeface="Times New Roman" panose="02020603050405020304" pitchFamily="18" charset="0"/>
            </a:endParaRPr>
          </a:p>
          <a:p>
            <a:pPr marL="0" marR="0" lvl="0" indent="0" fontAlgn="base">
              <a:spcBef>
                <a:spcPct val="0"/>
              </a:spcBef>
              <a:spcAft>
                <a:spcPct val="0"/>
              </a:spcAft>
              <a:buClrTx/>
              <a:buSzTx/>
              <a:buNone/>
              <a:tabLst/>
            </a:pPr>
            <a:endParaRPr lang="en-US" altLang="en-US" sz="3200" dirty="0">
              <a:solidFill>
                <a:srgbClr val="002060"/>
              </a:solidFill>
              <a:ea typeface="+mj-ea"/>
              <a:cs typeface="Times New Roman" panose="02020603050405020304" pitchFamily="18" charset="0"/>
            </a:endParaRPr>
          </a:p>
        </p:txBody>
      </p:sp>
      <p:sp>
        <p:nvSpPr>
          <p:cNvPr id="8" name="Text Box 25">
            <a:extLst>
              <a:ext uri="{FF2B5EF4-FFF2-40B4-BE49-F238E27FC236}">
                <a16:creationId xmlns:a16="http://schemas.microsoft.com/office/drawing/2014/main" id="{130256FF-BB4E-39F3-86DA-51AFA12743DB}"/>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070F2C93-8DAA-D961-1642-237B2E95F997}"/>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9745227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3F318-EE2E-31EC-6B80-F8CB53AB9CC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F4FD1770-B4F9-9F76-B521-CCF95995F4FE}"/>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2867219-95E1-F6E4-50B6-739ADD465825}"/>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E21366B2-776C-FD05-49D2-01CA538511F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C83630C3-408F-07B3-DBC5-EC744216E4D0}"/>
              </a:ext>
            </a:extLst>
          </p:cNvPr>
          <p:cNvSpPr txBox="1"/>
          <p:nvPr/>
        </p:nvSpPr>
        <p:spPr>
          <a:xfrm>
            <a:off x="807923" y="286700"/>
            <a:ext cx="9344330" cy="1220470"/>
          </a:xfrm>
          <a:prstGeom prst="rect">
            <a:avLst/>
          </a:prstGeom>
          <a:noFill/>
        </p:spPr>
        <p:txBody>
          <a:bodyPr wrap="square" rtlCol="0" anchor="t">
            <a:noAutofit/>
          </a:bodyPr>
          <a:lstStyle/>
          <a:p>
            <a:pPr algn="ctr"/>
            <a:r>
              <a:rPr lang="en-US" sz="3200" dirty="0">
                <a:solidFill>
                  <a:srgbClr val="0070C0"/>
                </a:solidFill>
              </a:rPr>
              <a:t>INTRODUCTION</a:t>
            </a:r>
          </a:p>
        </p:txBody>
      </p:sp>
      <p:sp>
        <p:nvSpPr>
          <p:cNvPr id="6" name="Rectangle 1">
            <a:extLst>
              <a:ext uri="{FF2B5EF4-FFF2-40B4-BE49-F238E27FC236}">
                <a16:creationId xmlns:a16="http://schemas.microsoft.com/office/drawing/2014/main" id="{12CA6504-A700-BD0F-8DA5-274BA538CB51}"/>
              </a:ext>
            </a:extLst>
          </p:cNvPr>
          <p:cNvSpPr>
            <a:spLocks noGrp="1" noChangeArrowheads="1"/>
          </p:cNvSpPr>
          <p:nvPr>
            <p:ph idx="1"/>
          </p:nvPr>
        </p:nvSpPr>
        <p:spPr bwMode="auto">
          <a:xfrm>
            <a:off x="240890" y="1240579"/>
            <a:ext cx="11710220" cy="626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fontAlgn="base">
              <a:lnSpc>
                <a:spcPct val="150000"/>
              </a:lnSpc>
              <a:spcBef>
                <a:spcPct val="0"/>
              </a:spcBef>
              <a:spcAft>
                <a:spcPct val="0"/>
              </a:spcAft>
              <a:buNone/>
            </a:pPr>
            <a:r>
              <a:rPr lang="en-US" sz="1400" dirty="0"/>
              <a:t>The Efficient water management in agriculture is a critical global challenge, especially in regions facing unpredictable rainfall and limited resources. In Existing ,irrigation systems often depend on soil moisture sensors or weather forecasts, which can lead to over‑irrigation, water wastage, or missed opportunities to conserve water during rainfall events. To address these limitations, our  project aligns with the SDG-Goal6 (Clean water and sanitation), which we had  proposed a </a:t>
            </a:r>
            <a:r>
              <a:rPr lang="en-US" sz="1400" b="1" dirty="0"/>
              <a:t>AI-Driven rainfall prediction and smart irrigation using leaf tilt sensor. </a:t>
            </a:r>
            <a:r>
              <a:rPr lang="en-US" sz="1400" dirty="0"/>
              <a:t>This project proposes a smart irrigation system using a leaf tilt sensor to predict rainfall and reduce water wastage. By detecting  changes in leaf angle and combined with humidity and wetness sensors—the system identifies early signs of rainfall and adjusts irrigation accordingly. If only a few drops fall, the system filters false alerts using time-based and multi-sensor validation, ensuring irrigation is not interrupted unnecessarily. This approach helps prevent over-irrigation, reduces water use by up to 30–40%, and supports UN SDG Goal 6 on efficient water management. Powered by low-energy components and optional solar input, our project is ideal for sustainable and remote agriculture. The solution offers a novel, plant-based feedback mechanism for smart farming, improving yield while conserving critical water resources.</a:t>
            </a:r>
          </a:p>
          <a:p>
            <a:pPr marL="0" marR="0" lvl="0" indent="0" fontAlgn="base">
              <a:lnSpc>
                <a:spcPct val="150000"/>
              </a:lnSpc>
              <a:spcBef>
                <a:spcPct val="0"/>
              </a:spcBef>
              <a:spcAft>
                <a:spcPct val="0"/>
              </a:spcAft>
              <a:buClrTx/>
              <a:buSzTx/>
              <a:buNone/>
              <a:tabLst/>
            </a:pPr>
            <a:r>
              <a:rPr lang="en-US" altLang="en-US" sz="1400" dirty="0">
                <a:latin typeface="Times New Roman" panose="02020603050405020304" pitchFamily="18" charset="0"/>
                <a:ea typeface="+mj-ea"/>
                <a:cs typeface="Times New Roman" panose="02020603050405020304" pitchFamily="18" charset="0"/>
              </a:rPr>
              <a:t>The system aims to:</a:t>
            </a:r>
          </a:p>
          <a:p>
            <a:pPr marR="0" lvl="0" fontAlgn="base">
              <a:lnSpc>
                <a:spcPct val="150000"/>
              </a:lnSpc>
              <a:spcBef>
                <a:spcPct val="0"/>
              </a:spcBef>
              <a:spcAft>
                <a:spcPct val="0"/>
              </a:spcAft>
              <a:buClrTx/>
              <a:buSzTx/>
              <a:buFont typeface="Wingdings" panose="05000000000000000000" pitchFamily="2" charset="2"/>
              <a:buChar char="Ø"/>
              <a:tabLst/>
            </a:pPr>
            <a:r>
              <a:rPr lang="en-US" altLang="en-US" sz="1400" dirty="0">
                <a:latin typeface="Times New Roman" panose="02020603050405020304" pitchFamily="18" charset="0"/>
                <a:ea typeface="+mj-ea"/>
                <a:cs typeface="Times New Roman" panose="02020603050405020304" pitchFamily="18" charset="0"/>
              </a:rPr>
              <a:t>Automate the irrigation by predicting rainfall using deep learning model(Bi-LSTM, CNN, Neural Prophet).</a:t>
            </a:r>
          </a:p>
          <a:p>
            <a:pPr marR="0" lvl="0" fontAlgn="base">
              <a:lnSpc>
                <a:spcPct val="150000"/>
              </a:lnSpc>
              <a:spcBef>
                <a:spcPct val="0"/>
              </a:spcBef>
              <a:spcAft>
                <a:spcPct val="0"/>
              </a:spcAft>
              <a:buClrTx/>
              <a:buSzTx/>
              <a:buFont typeface="Wingdings" panose="05000000000000000000" pitchFamily="2" charset="2"/>
              <a:buChar char="Ø"/>
              <a:tabLst/>
            </a:pPr>
            <a:r>
              <a:rPr lang="en-US" altLang="en-US" sz="1400" dirty="0">
                <a:latin typeface="Times New Roman" panose="02020603050405020304" pitchFamily="18" charset="0"/>
                <a:ea typeface="+mj-ea"/>
                <a:cs typeface="Times New Roman" panose="02020603050405020304" pitchFamily="18" charset="0"/>
              </a:rPr>
              <a:t>It sends the collected data to user interface for manual control and monitor </a:t>
            </a:r>
          </a:p>
          <a:p>
            <a:pPr marR="0" lvl="0" fontAlgn="base">
              <a:lnSpc>
                <a:spcPct val="150000"/>
              </a:lnSpc>
              <a:spcBef>
                <a:spcPct val="0"/>
              </a:spcBef>
              <a:spcAft>
                <a:spcPct val="0"/>
              </a:spcAft>
              <a:buClrTx/>
              <a:buSzTx/>
              <a:buFont typeface="Wingdings" panose="05000000000000000000" pitchFamily="2" charset="2"/>
              <a:buChar char="Ø"/>
              <a:tabLst/>
            </a:pPr>
            <a:r>
              <a:rPr lang="en-US" altLang="en-US" sz="1400" dirty="0">
                <a:latin typeface="Times New Roman" panose="02020603050405020304" pitchFamily="18" charset="0"/>
                <a:ea typeface="+mj-ea"/>
                <a:cs typeface="Times New Roman" panose="02020603050405020304" pitchFamily="18" charset="0"/>
              </a:rPr>
              <a:t>It automatically corrects the sensor calibration when it is out of fixed </a:t>
            </a:r>
            <a:r>
              <a:rPr lang="en-US" altLang="en-US" sz="1400" dirty="0" err="1">
                <a:latin typeface="Times New Roman" panose="02020603050405020304" pitchFamily="18" charset="0"/>
                <a:ea typeface="+mj-ea"/>
                <a:cs typeface="Times New Roman" panose="02020603050405020304" pitchFamily="18" charset="0"/>
              </a:rPr>
              <a:t>threashold</a:t>
            </a:r>
            <a:r>
              <a:rPr lang="en-US" altLang="en-US" sz="1400" dirty="0">
                <a:latin typeface="Times New Roman" panose="02020603050405020304" pitchFamily="18" charset="0"/>
                <a:ea typeface="+mj-ea"/>
                <a:cs typeface="Times New Roman" panose="02020603050405020304" pitchFamily="18" charset="0"/>
              </a:rPr>
              <a:t> value by using self correcting layer. This ensures the system reliability and accuracy.</a:t>
            </a:r>
          </a:p>
          <a:p>
            <a:pPr marR="0" lvl="0" fontAlgn="base">
              <a:lnSpc>
                <a:spcPct val="150000"/>
              </a:lnSpc>
              <a:spcBef>
                <a:spcPct val="0"/>
              </a:spcBef>
              <a:spcAft>
                <a:spcPct val="0"/>
              </a:spcAft>
              <a:buClrTx/>
              <a:buSzTx/>
              <a:buFont typeface="Wingdings" panose="05000000000000000000" pitchFamily="2" charset="2"/>
              <a:buChar char="Ø"/>
              <a:tabLst/>
            </a:pPr>
            <a:endParaRPr lang="en-US" altLang="en-US" sz="1600" dirty="0">
              <a:latin typeface="Times New Roman" panose="02020603050405020304" pitchFamily="18" charset="0"/>
              <a:ea typeface="+mj-ea"/>
              <a:cs typeface="Times New Roman" panose="02020603050405020304" pitchFamily="18" charset="0"/>
            </a:endParaRPr>
          </a:p>
          <a:p>
            <a:pPr marR="0" lvl="0" fontAlgn="base">
              <a:lnSpc>
                <a:spcPct val="150000"/>
              </a:lnSpc>
              <a:spcBef>
                <a:spcPct val="0"/>
              </a:spcBef>
              <a:spcAft>
                <a:spcPct val="0"/>
              </a:spcAft>
              <a:buClrTx/>
              <a:buSzTx/>
              <a:buFont typeface="Wingdings" panose="05000000000000000000" pitchFamily="2" charset="2"/>
              <a:buChar char="Ø"/>
              <a:tabLst/>
            </a:pPr>
            <a:endParaRPr lang="en-US" altLang="en-US" sz="1600" dirty="0">
              <a:latin typeface="Times New Roman" panose="02020603050405020304" pitchFamily="18" charset="0"/>
              <a:ea typeface="+mj-ea"/>
              <a:cs typeface="Times New Roman" panose="02020603050405020304" pitchFamily="18" charset="0"/>
            </a:endParaRPr>
          </a:p>
          <a:p>
            <a:pPr marR="0" lvl="0" fontAlgn="base">
              <a:lnSpc>
                <a:spcPct val="150000"/>
              </a:lnSpc>
              <a:spcBef>
                <a:spcPct val="0"/>
              </a:spcBef>
              <a:spcAft>
                <a:spcPct val="0"/>
              </a:spcAft>
              <a:buClrTx/>
              <a:buSzTx/>
              <a:buFont typeface="Wingdings" panose="05000000000000000000" pitchFamily="2" charset="2"/>
              <a:buChar char="Ø"/>
              <a:tabLst/>
            </a:pPr>
            <a:endParaRPr lang="en-US" altLang="en-US" sz="1600" dirty="0">
              <a:latin typeface="Times New Roman" panose="02020603050405020304" pitchFamily="18" charset="0"/>
              <a:ea typeface="+mj-ea"/>
              <a:cs typeface="Times New Roman" panose="02020603050405020304" pitchFamily="18" charset="0"/>
            </a:endParaRPr>
          </a:p>
          <a:p>
            <a:pPr marL="0" marR="0" lvl="0" indent="0" fontAlgn="base">
              <a:spcBef>
                <a:spcPct val="0"/>
              </a:spcBef>
              <a:spcAft>
                <a:spcPct val="0"/>
              </a:spcAft>
              <a:buClrTx/>
              <a:buSzTx/>
              <a:buNone/>
              <a:tabLst/>
            </a:pPr>
            <a:endParaRPr lang="en-US" altLang="en-US" sz="3200" dirty="0">
              <a:solidFill>
                <a:srgbClr val="002060"/>
              </a:solidFill>
              <a:ea typeface="+mj-ea"/>
              <a:cs typeface="Times New Roman" panose="02020603050405020304" pitchFamily="18" charset="0"/>
            </a:endParaRPr>
          </a:p>
        </p:txBody>
      </p:sp>
      <p:sp>
        <p:nvSpPr>
          <p:cNvPr id="8" name="Text Box 25">
            <a:extLst>
              <a:ext uri="{FF2B5EF4-FFF2-40B4-BE49-F238E27FC236}">
                <a16:creationId xmlns:a16="http://schemas.microsoft.com/office/drawing/2014/main" id="{F99F7745-FFF5-12C4-43D5-C3533406F463}"/>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F47458F5-9097-F527-D84F-32C1147A451F}"/>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3886750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A64938-E325-9357-9171-0C7A286E84F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03FDF3C-1FF6-6A83-4F9D-FDA03DAA6C45}"/>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8F7B1B9-A40C-B4C3-F30C-70D6585001D8}"/>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5259193F-F9DB-4AF9-CE71-3A1ADAAF6E0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BC6260B-8C3C-EE52-7254-D96F20CC30C7}"/>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EXISTING SYSTEM</a:t>
            </a:r>
            <a:endParaRPr lang="en-US" dirty="0"/>
          </a:p>
        </p:txBody>
      </p:sp>
      <p:sp>
        <p:nvSpPr>
          <p:cNvPr id="6" name="Rectangle 1">
            <a:extLst>
              <a:ext uri="{FF2B5EF4-FFF2-40B4-BE49-F238E27FC236}">
                <a16:creationId xmlns:a16="http://schemas.microsoft.com/office/drawing/2014/main" id="{AF8128D1-EE3C-8983-AF06-CA4ACFD42219}"/>
              </a:ext>
            </a:extLst>
          </p:cNvPr>
          <p:cNvSpPr>
            <a:spLocks noGrp="1" noChangeArrowheads="1"/>
          </p:cNvSpPr>
          <p:nvPr>
            <p:ph idx="1"/>
          </p:nvPr>
        </p:nvSpPr>
        <p:spPr bwMode="auto">
          <a:xfrm>
            <a:off x="697195" y="2097065"/>
            <a:ext cx="11101513"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just" fontAlgn="base">
              <a:lnSpc>
                <a:spcPct val="150000"/>
              </a:lnSpc>
              <a:spcBef>
                <a:spcPct val="0"/>
              </a:spcBef>
              <a:spcAft>
                <a:spcPct val="0"/>
              </a:spcAft>
              <a:buClrTx/>
              <a:buSzTx/>
              <a:buFont typeface="Wingdings" panose="05000000000000000000" pitchFamily="2" charset="2"/>
              <a:buChar char="Ø"/>
              <a:tabLst/>
            </a:pPr>
            <a:r>
              <a:rPr lang="en-US" sz="1600" dirty="0"/>
              <a:t>The current drone-based system faces problems like short battery life, sensor issues, and lack of enough seasonal data for accurate predictions.</a:t>
            </a:r>
          </a:p>
          <a:p>
            <a:pPr marR="0" lvl="0" algn="just" fontAlgn="base">
              <a:lnSpc>
                <a:spcPct val="150000"/>
              </a:lnSpc>
              <a:spcBef>
                <a:spcPct val="0"/>
              </a:spcBef>
              <a:spcAft>
                <a:spcPct val="0"/>
              </a:spcAft>
              <a:buClrTx/>
              <a:buSzTx/>
              <a:buFont typeface="Wingdings" panose="05000000000000000000" pitchFamily="2" charset="2"/>
              <a:buChar char="Ø"/>
              <a:tabLst/>
            </a:pPr>
            <a:r>
              <a:rPr lang="en-US" sz="1600" dirty="0"/>
              <a:t>Machine learning models (like CNN, LSTM, ANN, Random Forest) need strong internet and huge satellite image databases, making them costly to use.</a:t>
            </a:r>
          </a:p>
          <a:p>
            <a:pPr marR="0" lvl="0" algn="just" fontAlgn="base">
              <a:lnSpc>
                <a:spcPct val="150000"/>
              </a:lnSpc>
              <a:spcBef>
                <a:spcPct val="0"/>
              </a:spcBef>
              <a:spcAft>
                <a:spcPct val="0"/>
              </a:spcAft>
              <a:buClrTx/>
              <a:buSzTx/>
              <a:buFont typeface="Wingdings" panose="05000000000000000000" pitchFamily="2" charset="2"/>
              <a:buChar char="Ø"/>
              <a:tabLst/>
            </a:pPr>
            <a:r>
              <a:rPr lang="en-US" sz="1600" dirty="0"/>
              <a:t>Models like SVR and hybrid ANN-CNN-LSTM don’t work well with low-quality images or limited data, and there’s no common standard for mixing ML and DL methods.</a:t>
            </a:r>
          </a:p>
          <a:p>
            <a:pPr marR="0" lvl="0" algn="just" fontAlgn="base">
              <a:lnSpc>
                <a:spcPct val="150000"/>
              </a:lnSpc>
              <a:spcBef>
                <a:spcPct val="0"/>
              </a:spcBef>
              <a:spcAft>
                <a:spcPct val="0"/>
              </a:spcAft>
              <a:buClrTx/>
              <a:buSzTx/>
              <a:buFont typeface="Wingdings" panose="05000000000000000000" pitchFamily="2" charset="2"/>
              <a:buChar char="Ø"/>
              <a:tabLst/>
            </a:pPr>
            <a:r>
              <a:rPr lang="en-US" sz="1600" dirty="0"/>
              <a:t>These systems find it hard to react quickly to sudden weather changes and require heavy computation, especially when data is missing or unclear.</a:t>
            </a:r>
          </a:p>
          <a:p>
            <a:pPr marR="0" lvl="0" algn="just" fontAlgn="base">
              <a:lnSpc>
                <a:spcPct val="100000"/>
              </a:lnSpc>
              <a:spcBef>
                <a:spcPct val="0"/>
              </a:spcBef>
              <a:spcAft>
                <a:spcPct val="0"/>
              </a:spcAft>
              <a:buClrTx/>
              <a:buSzTx/>
              <a:buFont typeface="Wingdings" panose="05000000000000000000" pitchFamily="2" charset="2"/>
              <a:buChar char="Ø"/>
              <a:tabLst/>
            </a:pPr>
            <a:endParaRPr lang="en-US" altLang="en-US" sz="1600" dirty="0">
              <a:solidFill>
                <a:srgbClr val="002060"/>
              </a:solidFill>
              <a:ea typeface="+mj-ea"/>
              <a:cs typeface="Times New Roman" panose="02020603050405020304" pitchFamily="18" charset="0"/>
            </a:endParaRPr>
          </a:p>
        </p:txBody>
      </p:sp>
      <p:sp>
        <p:nvSpPr>
          <p:cNvPr id="8" name="Text Box 25">
            <a:extLst>
              <a:ext uri="{FF2B5EF4-FFF2-40B4-BE49-F238E27FC236}">
                <a16:creationId xmlns:a16="http://schemas.microsoft.com/office/drawing/2014/main" id="{0EC38265-8BFA-E345-086A-115FBAE00DB7}"/>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7EB613BF-27D6-FF77-4C19-A4AC36A85A6D}"/>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491840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36845B-92CF-54A9-D521-F3BB49893EFA}"/>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2F41CDA9-9A3F-10D0-A909-47733C474230}"/>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5BF910F8-3DC8-E123-1834-1DCE338F3251}"/>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DC57532E-8C73-F79E-6F51-DE1862C695A6}"/>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0C2BA1E-14FB-7E2C-5E13-CE7E5E548BF7}"/>
              </a:ext>
            </a:extLst>
          </p:cNvPr>
          <p:cNvSpPr txBox="1"/>
          <p:nvPr/>
        </p:nvSpPr>
        <p:spPr>
          <a:xfrm>
            <a:off x="1026076" y="-131036"/>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US" sz="4000" dirty="0">
                <a:solidFill>
                  <a:srgbClr val="0070C0"/>
                </a:solidFill>
                <a:latin typeface="+mn-ea"/>
                <a:cs typeface="+mn-ea"/>
                <a:sym typeface="+mn-ea"/>
              </a:rPr>
              <a:t>Literature Survey</a:t>
            </a:r>
            <a:endParaRPr lang="en-US" dirty="0">
              <a:solidFill>
                <a:srgbClr val="0070C0"/>
              </a:solidFill>
            </a:endParaRPr>
          </a:p>
          <a:p>
            <a:endParaRPr lang="en-US" dirty="0"/>
          </a:p>
          <a:p>
            <a:endParaRPr lang="en-US" dirty="0"/>
          </a:p>
        </p:txBody>
      </p:sp>
      <p:graphicFrame>
        <p:nvGraphicFramePr>
          <p:cNvPr id="9" name="Content Placeholder 8">
            <a:extLst>
              <a:ext uri="{FF2B5EF4-FFF2-40B4-BE49-F238E27FC236}">
                <a16:creationId xmlns:a16="http://schemas.microsoft.com/office/drawing/2014/main" id="{DF261C38-CDCF-A4F9-28AF-44750FF3E0FC}"/>
              </a:ext>
            </a:extLst>
          </p:cNvPr>
          <p:cNvGraphicFramePr>
            <a:graphicFrameLocks noGrp="1"/>
          </p:cNvGraphicFramePr>
          <p:nvPr>
            <p:ph idx="1"/>
            <p:extLst>
              <p:ext uri="{D42A27DB-BD31-4B8C-83A1-F6EECF244321}">
                <p14:modId xmlns:p14="http://schemas.microsoft.com/office/powerpoint/2010/main" val="1181694942"/>
              </p:ext>
            </p:extLst>
          </p:nvPr>
        </p:nvGraphicFramePr>
        <p:xfrm>
          <a:off x="838270" y="1072286"/>
          <a:ext cx="10423780" cy="5655034"/>
        </p:xfrm>
        <a:graphic>
          <a:graphicData uri="http://schemas.openxmlformats.org/drawingml/2006/table">
            <a:tbl>
              <a:tblPr firstRow="1" bandRow="1">
                <a:tableStyleId>{93296810-A885-4BE3-A3E7-6D5BEEA58F35}</a:tableStyleId>
              </a:tblPr>
              <a:tblGrid>
                <a:gridCol w="2084756">
                  <a:extLst>
                    <a:ext uri="{9D8B030D-6E8A-4147-A177-3AD203B41FA5}">
                      <a16:colId xmlns:a16="http://schemas.microsoft.com/office/drawing/2014/main" val="2991403296"/>
                    </a:ext>
                  </a:extLst>
                </a:gridCol>
                <a:gridCol w="2084756">
                  <a:extLst>
                    <a:ext uri="{9D8B030D-6E8A-4147-A177-3AD203B41FA5}">
                      <a16:colId xmlns:a16="http://schemas.microsoft.com/office/drawing/2014/main" val="3644193846"/>
                    </a:ext>
                  </a:extLst>
                </a:gridCol>
                <a:gridCol w="1887540">
                  <a:extLst>
                    <a:ext uri="{9D8B030D-6E8A-4147-A177-3AD203B41FA5}">
                      <a16:colId xmlns:a16="http://schemas.microsoft.com/office/drawing/2014/main" val="1036794660"/>
                    </a:ext>
                  </a:extLst>
                </a:gridCol>
                <a:gridCol w="2281972">
                  <a:extLst>
                    <a:ext uri="{9D8B030D-6E8A-4147-A177-3AD203B41FA5}">
                      <a16:colId xmlns:a16="http://schemas.microsoft.com/office/drawing/2014/main" val="3282508274"/>
                    </a:ext>
                  </a:extLst>
                </a:gridCol>
                <a:gridCol w="2084756">
                  <a:extLst>
                    <a:ext uri="{9D8B030D-6E8A-4147-A177-3AD203B41FA5}">
                      <a16:colId xmlns:a16="http://schemas.microsoft.com/office/drawing/2014/main" val="1729313586"/>
                    </a:ext>
                  </a:extLst>
                </a:gridCol>
              </a:tblGrid>
              <a:tr h="1083034">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YEAR</a:t>
                      </a:r>
                    </a:p>
                  </a:txBody>
                  <a:tcPr/>
                </a:tc>
                <a:tc>
                  <a:txBody>
                    <a:bodyPr/>
                    <a:lstStyle/>
                    <a:p>
                      <a:pPr algn="ctr"/>
                      <a:r>
                        <a:rPr lang="en-IN" dirty="0"/>
                        <a:t>METHODOLOGY</a:t>
                      </a:r>
                    </a:p>
                  </a:txBody>
                  <a:tcPr/>
                </a:tc>
                <a:tc>
                  <a:txBody>
                    <a:bodyPr/>
                    <a:lstStyle/>
                    <a:p>
                      <a:pPr algn="ctr"/>
                      <a:r>
                        <a:rPr lang="en-IN" dirty="0"/>
                        <a:t>SUMMARY</a:t>
                      </a:r>
                    </a:p>
                  </a:txBody>
                  <a:tcPr/>
                </a:tc>
                <a:extLst>
                  <a:ext uri="{0D108BD9-81ED-4DB2-BD59-A6C34878D82A}">
                    <a16:rowId xmlns:a16="http://schemas.microsoft.com/office/drawing/2014/main" val="4167788868"/>
                  </a:ext>
                </a:extLst>
              </a:tr>
              <a:tr h="21812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cs typeface="Times New Roman" panose="02020603050405020304" pitchFamily="18" charset="0"/>
                        </a:rPr>
                        <a:t>Plant Phenotyping Using Leaf Movement for Environmental Monitoring</a:t>
                      </a:r>
                      <a:endParaRPr lang="en-IN" sz="1600" dirty="0">
                        <a:latin typeface="+mn-lt"/>
                        <a:cs typeface="Times New Roman" panose="02020603050405020304" pitchFamily="18" charset="0"/>
                      </a:endParaRPr>
                    </a:p>
                    <a:p>
                      <a:endParaRPr lang="en-IN" sz="1400" dirty="0">
                        <a:latin typeface="Times New Roman" panose="02020603050405020304" pitchFamily="18" charset="0"/>
                        <a:cs typeface="Times New Roman" panose="02020603050405020304" pitchFamily="18" charset="0"/>
                      </a:endParaRPr>
                    </a:p>
                  </a:txBody>
                  <a:tcPr/>
                </a:tc>
                <a:tc>
                  <a:txBody>
                    <a:bodyPr/>
                    <a:lstStyle/>
                    <a:p>
                      <a:r>
                        <a:rPr lang="en-IN" sz="1600" dirty="0"/>
                        <a:t>Zhao et al.</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dirty="0"/>
                        <a:t> 2024</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Used accelerometers on leaves to detect movement patterns under environmental changes.</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Demonstrated that plant leaf angles can be used as real-time indicators of humidity, light, and rainfall. Showed potential for plant-centric environmental monitoring.</a:t>
                      </a:r>
                      <a:endParaRPr lang="en-US" sz="1600" dirty="0">
                        <a:latin typeface="Times New Roman" panose="02020603050405020304" pitchFamily="18" charset="0"/>
                        <a:cs typeface="Times New Roman" panose="02020603050405020304" pitchFamily="18" charset="0"/>
                      </a:endParaRPr>
                    </a:p>
                    <a:p>
                      <a:endParaRPr lang="en-IN" sz="1600" dirty="0"/>
                    </a:p>
                  </a:txBody>
                  <a:tcPr/>
                </a:tc>
                <a:extLst>
                  <a:ext uri="{0D108BD9-81ED-4DB2-BD59-A6C34878D82A}">
                    <a16:rowId xmlns:a16="http://schemas.microsoft.com/office/drawing/2014/main" val="3773809156"/>
                  </a:ext>
                </a:extLst>
              </a:tr>
              <a:tr h="2003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Wireless Smart Plant Sensor for Monitoring Plant Stress and Environmental Conditions</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IN" sz="1200" dirty="0"/>
                        <a:t> </a:t>
                      </a:r>
                      <a:r>
                        <a:rPr lang="en-IN" sz="1600" dirty="0"/>
                        <a:t>Kim et al.</a:t>
                      </a:r>
                      <a:endParaRPr lang="en-IN" sz="1600" dirty="0">
                        <a:latin typeface="Times New Roman" panose="02020603050405020304" pitchFamily="18" charset="0"/>
                        <a:cs typeface="Times New Roman" panose="02020603050405020304" pitchFamily="18" charset="0"/>
                      </a:endParaRPr>
                    </a:p>
                  </a:txBody>
                  <a:tcPr/>
                </a:tc>
                <a:tc>
                  <a:txBody>
                    <a:bodyPr/>
                    <a:lstStyle/>
                    <a:p>
                      <a:r>
                        <a:rPr lang="en-IN" dirty="0"/>
                        <a:t>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Developed a flexible tilt and moisture sensor integrated with wireless data transmission.</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US" sz="1600" dirty="0"/>
                        <a:t>created a low-power leaf-attached sensor system capable of detecting plant tilt and transmitting stress data. Highlighted possible use in early drought and rain </a:t>
                      </a:r>
                      <a:endParaRPr lang="en-IN" sz="16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9809562"/>
                  </a:ext>
                </a:extLst>
              </a:tr>
            </a:tbl>
          </a:graphicData>
        </a:graphic>
      </p:graphicFrame>
      <p:sp>
        <p:nvSpPr>
          <p:cNvPr id="7" name="Text Box 25">
            <a:extLst>
              <a:ext uri="{FF2B5EF4-FFF2-40B4-BE49-F238E27FC236}">
                <a16:creationId xmlns:a16="http://schemas.microsoft.com/office/drawing/2014/main" id="{972B0F54-366B-8E50-50BB-B16F984A245C}"/>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66F5A01D-FE5D-9C7C-589D-EA3237AF8C3C}"/>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13289226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216BC-E698-900A-2905-D5CE093C73F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46F43879-6821-839A-6D02-34CE2AE6A49F}"/>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4F2ED3BA-7A70-2A84-93FC-86EF7CD9224F}"/>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BE9EC8AF-54C6-32DE-9C96-290865166563}"/>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7B01FCB7-D973-A749-5D84-AAF3BE6938E7}"/>
              </a:ext>
            </a:extLst>
          </p:cNvPr>
          <p:cNvSpPr txBox="1"/>
          <p:nvPr/>
        </p:nvSpPr>
        <p:spPr>
          <a:xfrm>
            <a:off x="1340708" y="-73615"/>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US" sz="4000" dirty="0">
                <a:solidFill>
                  <a:srgbClr val="0070C0"/>
                </a:solidFill>
                <a:latin typeface="+mn-ea"/>
                <a:cs typeface="+mn-ea"/>
                <a:sym typeface="+mn-ea"/>
              </a:rPr>
              <a:t>Literature Survey</a:t>
            </a:r>
            <a:endParaRPr lang="en-US" dirty="0">
              <a:solidFill>
                <a:srgbClr val="0070C0"/>
              </a:solidFill>
            </a:endParaRPr>
          </a:p>
          <a:p>
            <a:endParaRPr lang="en-US" dirty="0"/>
          </a:p>
          <a:p>
            <a:endParaRPr lang="en-US" dirty="0"/>
          </a:p>
        </p:txBody>
      </p:sp>
      <p:graphicFrame>
        <p:nvGraphicFramePr>
          <p:cNvPr id="9" name="Content Placeholder 8">
            <a:extLst>
              <a:ext uri="{FF2B5EF4-FFF2-40B4-BE49-F238E27FC236}">
                <a16:creationId xmlns:a16="http://schemas.microsoft.com/office/drawing/2014/main" id="{37A8F930-F9EE-C169-729A-5B0C85D30028}"/>
              </a:ext>
            </a:extLst>
          </p:cNvPr>
          <p:cNvGraphicFramePr>
            <a:graphicFrameLocks noGrp="1"/>
          </p:cNvGraphicFramePr>
          <p:nvPr>
            <p:ph idx="1"/>
            <p:extLst>
              <p:ext uri="{D42A27DB-BD31-4B8C-83A1-F6EECF244321}">
                <p14:modId xmlns:p14="http://schemas.microsoft.com/office/powerpoint/2010/main" val="2507259744"/>
              </p:ext>
            </p:extLst>
          </p:nvPr>
        </p:nvGraphicFramePr>
        <p:xfrm>
          <a:off x="838270" y="1072286"/>
          <a:ext cx="10423780" cy="5268198"/>
        </p:xfrm>
        <a:graphic>
          <a:graphicData uri="http://schemas.openxmlformats.org/drawingml/2006/table">
            <a:tbl>
              <a:tblPr firstRow="1" bandRow="1">
                <a:tableStyleId>{93296810-A885-4BE3-A3E7-6D5BEEA58F35}</a:tableStyleId>
              </a:tblPr>
              <a:tblGrid>
                <a:gridCol w="2084756">
                  <a:extLst>
                    <a:ext uri="{9D8B030D-6E8A-4147-A177-3AD203B41FA5}">
                      <a16:colId xmlns:a16="http://schemas.microsoft.com/office/drawing/2014/main" val="2991403296"/>
                    </a:ext>
                  </a:extLst>
                </a:gridCol>
                <a:gridCol w="2084756">
                  <a:extLst>
                    <a:ext uri="{9D8B030D-6E8A-4147-A177-3AD203B41FA5}">
                      <a16:colId xmlns:a16="http://schemas.microsoft.com/office/drawing/2014/main" val="3644193846"/>
                    </a:ext>
                  </a:extLst>
                </a:gridCol>
                <a:gridCol w="1887540">
                  <a:extLst>
                    <a:ext uri="{9D8B030D-6E8A-4147-A177-3AD203B41FA5}">
                      <a16:colId xmlns:a16="http://schemas.microsoft.com/office/drawing/2014/main" val="1036794660"/>
                    </a:ext>
                  </a:extLst>
                </a:gridCol>
                <a:gridCol w="2281972">
                  <a:extLst>
                    <a:ext uri="{9D8B030D-6E8A-4147-A177-3AD203B41FA5}">
                      <a16:colId xmlns:a16="http://schemas.microsoft.com/office/drawing/2014/main" val="3282508274"/>
                    </a:ext>
                  </a:extLst>
                </a:gridCol>
                <a:gridCol w="2084756">
                  <a:extLst>
                    <a:ext uri="{9D8B030D-6E8A-4147-A177-3AD203B41FA5}">
                      <a16:colId xmlns:a16="http://schemas.microsoft.com/office/drawing/2014/main" val="1729313586"/>
                    </a:ext>
                  </a:extLst>
                </a:gridCol>
              </a:tblGrid>
              <a:tr h="1083034">
                <a:tc>
                  <a:txBody>
                    <a:bodyPr/>
                    <a:lstStyle/>
                    <a:p>
                      <a:pPr algn="ctr"/>
                      <a:r>
                        <a:rPr lang="en-IN" dirty="0"/>
                        <a:t>TITLE</a:t>
                      </a:r>
                    </a:p>
                  </a:txBody>
                  <a:tcPr/>
                </a:tc>
                <a:tc>
                  <a:txBody>
                    <a:bodyPr/>
                    <a:lstStyle/>
                    <a:p>
                      <a:pPr algn="ctr"/>
                      <a:r>
                        <a:rPr lang="en-IN" dirty="0"/>
                        <a:t>AUTHOR</a:t>
                      </a:r>
                    </a:p>
                  </a:txBody>
                  <a:tcPr/>
                </a:tc>
                <a:tc>
                  <a:txBody>
                    <a:bodyPr/>
                    <a:lstStyle/>
                    <a:p>
                      <a:pPr algn="ctr"/>
                      <a:r>
                        <a:rPr lang="en-IN" dirty="0"/>
                        <a:t>YEAR</a:t>
                      </a:r>
                    </a:p>
                  </a:txBody>
                  <a:tcPr/>
                </a:tc>
                <a:tc>
                  <a:txBody>
                    <a:bodyPr/>
                    <a:lstStyle/>
                    <a:p>
                      <a:pPr algn="ctr"/>
                      <a:r>
                        <a:rPr lang="en-IN" dirty="0"/>
                        <a:t>METHODOLOGY</a:t>
                      </a:r>
                    </a:p>
                  </a:txBody>
                  <a:tcPr/>
                </a:tc>
                <a:tc>
                  <a:txBody>
                    <a:bodyPr/>
                    <a:lstStyle/>
                    <a:p>
                      <a:pPr algn="ctr"/>
                      <a:r>
                        <a:rPr lang="en-IN" dirty="0"/>
                        <a:t>SUMMARY</a:t>
                      </a:r>
                    </a:p>
                  </a:txBody>
                  <a:tcPr/>
                </a:tc>
                <a:extLst>
                  <a:ext uri="{0D108BD9-81ED-4DB2-BD59-A6C34878D82A}">
                    <a16:rowId xmlns:a16="http://schemas.microsoft.com/office/drawing/2014/main" val="4167788868"/>
                  </a:ext>
                </a:extLst>
              </a:tr>
              <a:tr h="2181294">
                <a:tc>
                  <a:txBody>
                    <a:bodyPr/>
                    <a:lstStyle/>
                    <a:p>
                      <a:endParaRPr lang="en-US" sz="1600" dirty="0"/>
                    </a:p>
                    <a:p>
                      <a:r>
                        <a:rPr lang="en-US" sz="1600" dirty="0"/>
                        <a:t>Smart Irrigation System Based on Soil Moisture and Weather Forecasting</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Ramesh et al.</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IN" dirty="0"/>
                        <a:t> 2023</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Combined soil moisture sensors with weather API for smart irrigation decisions.</a:t>
                      </a:r>
                      <a:endParaRPr lang="en-IN" sz="1600" dirty="0"/>
                    </a:p>
                    <a:p>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Improved irrigation efficiency by integrating soil data and rainfall predictions from the cloud. Did not use plant-based sensing</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73809156"/>
                  </a:ext>
                </a:extLst>
              </a:tr>
              <a:tr h="200387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Leaf Angle Monitoring as a Predictor of Water Availability in Plants</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dirty="0"/>
                        <a:t>Salazar &amp; Ortega</a:t>
                      </a:r>
                      <a:endParaRPr lang="en-US" sz="1600" dirty="0"/>
                    </a:p>
                    <a:p>
                      <a:endParaRPr lang="en-IN" sz="1200" dirty="0">
                        <a:latin typeface="Times New Roman" panose="02020603050405020304" pitchFamily="18" charset="0"/>
                        <a:cs typeface="Times New Roman" panose="02020603050405020304" pitchFamily="18" charset="0"/>
                      </a:endParaRPr>
                    </a:p>
                  </a:txBody>
                  <a:tcPr/>
                </a:tc>
                <a:tc>
                  <a:txBody>
                    <a:bodyPr/>
                    <a:lstStyle/>
                    <a:p>
                      <a:r>
                        <a:rPr lang="en-IN" dirty="0"/>
                        <a:t>2022</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Optical leaf angle monitoring using image processing techniques.</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Explored changes in leaf orientation under different water stress levels. Suggested that real-time monitoring can signal irrigation needs</a:t>
                      </a:r>
                      <a:endParaRPr lang="en-IN" sz="1600" dirty="0">
                        <a:latin typeface="Times New Roman" panose="02020603050405020304" pitchFamily="18" charset="0"/>
                        <a:cs typeface="Times New Roman" panose="02020603050405020304" pitchFamily="18" charset="0"/>
                      </a:endParaRPr>
                    </a:p>
                    <a:p>
                      <a:endParaRPr lang="en-IN" sz="12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789809562"/>
                  </a:ext>
                </a:extLst>
              </a:tr>
            </a:tbl>
          </a:graphicData>
        </a:graphic>
      </p:graphicFrame>
      <p:sp>
        <p:nvSpPr>
          <p:cNvPr id="7" name="Text Box 25">
            <a:extLst>
              <a:ext uri="{FF2B5EF4-FFF2-40B4-BE49-F238E27FC236}">
                <a16:creationId xmlns:a16="http://schemas.microsoft.com/office/drawing/2014/main" id="{74889F23-8DF0-8BE7-0492-D0700A59ADD3}"/>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FF6BB1CD-5627-2240-A629-D0E75BE4B3B4}"/>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40250285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7E2A2F-723A-C375-5074-C848F461F790}"/>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8FADF42-668E-77BD-BD7B-31804E57A909}"/>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B373B68F-F041-CC45-B9CC-FA9DE06011A8}"/>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5673EFAB-9EBE-703B-BDB7-02A8B9ECEA9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C943D8F-89C3-557B-8AF8-1C794F2C8607}"/>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PROPOSED  SYSTEM </a:t>
            </a:r>
            <a:endParaRPr lang="en-US" dirty="0"/>
          </a:p>
        </p:txBody>
      </p:sp>
      <p:sp>
        <p:nvSpPr>
          <p:cNvPr id="6" name="Rectangle 1">
            <a:extLst>
              <a:ext uri="{FF2B5EF4-FFF2-40B4-BE49-F238E27FC236}">
                <a16:creationId xmlns:a16="http://schemas.microsoft.com/office/drawing/2014/main" id="{ACC8493A-DC50-4652-5181-E522C429B77C}"/>
              </a:ext>
            </a:extLst>
          </p:cNvPr>
          <p:cNvSpPr>
            <a:spLocks noGrp="1" noChangeArrowheads="1"/>
          </p:cNvSpPr>
          <p:nvPr>
            <p:ph idx="1"/>
          </p:nvPr>
        </p:nvSpPr>
        <p:spPr bwMode="auto">
          <a:xfrm>
            <a:off x="186813" y="1870592"/>
            <a:ext cx="11818373" cy="37461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fontAlgn="base">
              <a:lnSpc>
                <a:spcPct val="150000"/>
              </a:lnSpc>
              <a:spcBef>
                <a:spcPct val="0"/>
              </a:spcBef>
              <a:spcAft>
                <a:spcPct val="0"/>
              </a:spcAft>
              <a:buClrTx/>
              <a:buSzTx/>
              <a:buFont typeface="Wingdings" panose="05000000000000000000" pitchFamily="2" charset="2"/>
              <a:buChar char="Ø"/>
              <a:tabLst/>
            </a:pPr>
            <a:r>
              <a:rPr lang="en-US" sz="1600" dirty="0"/>
              <a:t>The proposed system uses sensors for real time data, edge and cloud computing, deep learning, solar energy, and smart control to make farming more reliable and efficient, especially in off-grid areas.</a:t>
            </a:r>
          </a:p>
          <a:p>
            <a:pPr marR="0" lvl="0" fontAlgn="base">
              <a:lnSpc>
                <a:spcPct val="150000"/>
              </a:lnSpc>
              <a:spcBef>
                <a:spcPct val="0"/>
              </a:spcBef>
              <a:spcAft>
                <a:spcPct val="0"/>
              </a:spcAft>
              <a:buClrTx/>
              <a:buSzTx/>
              <a:buFont typeface="Wingdings" panose="05000000000000000000" pitchFamily="2" charset="2"/>
              <a:buChar char="Ø"/>
              <a:tabLst/>
            </a:pPr>
            <a:r>
              <a:rPr lang="en-IN" sz="1600" b="1" dirty="0"/>
              <a:t>Edge data collection:</a:t>
            </a:r>
            <a:r>
              <a:rPr lang="en-IN" sz="1600" dirty="0"/>
              <a:t> Leaf tilt sensors, soil moisture sensors, and environmental sensors (temperature, humidity, wind, light) send real-time data to an ESP32 processor for quick decisions.</a:t>
            </a:r>
          </a:p>
          <a:p>
            <a:pPr marR="0" lvl="0" fontAlgn="base">
              <a:lnSpc>
                <a:spcPct val="150000"/>
              </a:lnSpc>
              <a:spcBef>
                <a:spcPct val="0"/>
              </a:spcBef>
              <a:spcAft>
                <a:spcPct val="0"/>
              </a:spcAft>
              <a:buClrTx/>
              <a:buSzTx/>
              <a:buFont typeface="Wingdings" panose="05000000000000000000" pitchFamily="2" charset="2"/>
              <a:buChar char="Ø"/>
              <a:tabLst/>
            </a:pPr>
            <a:r>
              <a:rPr lang="en-US" sz="1600" b="1" dirty="0"/>
              <a:t>Cloud integration:</a:t>
            </a:r>
            <a:r>
              <a:rPr lang="en-US" sz="1600" dirty="0"/>
              <a:t> The system also collects weather forecasts from the Indian Meteorological Department (IMD) to combine with local sensor data.</a:t>
            </a:r>
          </a:p>
          <a:p>
            <a:pPr marR="0" lvl="0" fontAlgn="base">
              <a:lnSpc>
                <a:spcPct val="150000"/>
              </a:lnSpc>
              <a:spcBef>
                <a:spcPct val="0"/>
              </a:spcBef>
              <a:spcAft>
                <a:spcPct val="0"/>
              </a:spcAft>
              <a:buClrTx/>
              <a:buSzTx/>
              <a:buFont typeface="Wingdings" panose="05000000000000000000" pitchFamily="2" charset="2"/>
              <a:buChar char="Ø"/>
              <a:tabLst/>
            </a:pPr>
            <a:r>
              <a:rPr lang="en-US" sz="1600" b="1" dirty="0"/>
              <a:t>Hybrid deep learning model:</a:t>
            </a:r>
            <a:r>
              <a:rPr lang="en-US" sz="1600" dirty="0"/>
              <a:t> Bi-LSTM studies time patterns both </a:t>
            </a:r>
            <a:r>
              <a:rPr lang="en-US" sz="1600" dirty="0" err="1"/>
              <a:t>futute</a:t>
            </a:r>
            <a:r>
              <a:rPr lang="en-US" sz="1600" dirty="0"/>
              <a:t> and past series, CNN finds spatial features, Neural Prophet predicts rainfall trends, and </a:t>
            </a:r>
            <a:r>
              <a:rPr lang="en-US" sz="1600" dirty="0" err="1"/>
              <a:t>XGBoost</a:t>
            </a:r>
            <a:r>
              <a:rPr lang="en-US" sz="1600" dirty="0"/>
              <a:t> combines all results for the best forecast.</a:t>
            </a:r>
          </a:p>
          <a:p>
            <a:pPr marR="0" lvl="0" fontAlgn="base">
              <a:lnSpc>
                <a:spcPct val="150000"/>
              </a:lnSpc>
              <a:spcBef>
                <a:spcPct val="0"/>
              </a:spcBef>
              <a:spcAft>
                <a:spcPct val="0"/>
              </a:spcAft>
              <a:buClrTx/>
              <a:buSzTx/>
              <a:buFont typeface="Wingdings" panose="05000000000000000000" pitchFamily="2" charset="2"/>
              <a:buChar char="Ø"/>
              <a:tabLst/>
            </a:pPr>
            <a:r>
              <a:rPr lang="en-US" sz="1600" b="1" dirty="0"/>
              <a:t>Self-correcting </a:t>
            </a:r>
            <a:r>
              <a:rPr lang="en-US" sz="1600" b="1" dirty="0" err="1"/>
              <a:t>llayer</a:t>
            </a:r>
            <a:r>
              <a:rPr lang="en-US" sz="1600" b="1" dirty="0"/>
              <a:t> and control:</a:t>
            </a:r>
            <a:r>
              <a:rPr lang="en-US" sz="1600" dirty="0"/>
              <a:t> The model fixes sensor errors automatically, runs on ESP32 using TensorFlow Lite, and controls solar-powered irrigation pumps based on real-time predictions.</a:t>
            </a:r>
            <a:endParaRPr lang="en-US" altLang="en-US" sz="1600" dirty="0">
              <a:solidFill>
                <a:srgbClr val="002060"/>
              </a:solidFill>
              <a:latin typeface="Times New Roman" panose="02020603050405020304" pitchFamily="18" charset="0"/>
              <a:ea typeface="+mj-ea"/>
              <a:cs typeface="Times New Roman" panose="02020603050405020304" pitchFamily="18" charset="0"/>
            </a:endParaRPr>
          </a:p>
        </p:txBody>
      </p:sp>
      <p:sp>
        <p:nvSpPr>
          <p:cNvPr id="8" name="Text Box 25">
            <a:extLst>
              <a:ext uri="{FF2B5EF4-FFF2-40B4-BE49-F238E27FC236}">
                <a16:creationId xmlns:a16="http://schemas.microsoft.com/office/drawing/2014/main" id="{54051441-CF4B-C09C-9EDD-DC6059728D52}"/>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50A2D022-3702-333C-E1E8-94651819BE21}"/>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8983399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F6EFFA-F799-370F-F172-91F7D5CB8377}"/>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58FA3753-A077-37B4-4F07-E4F07D03C477}"/>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0925B6F-C0E6-E038-518B-9641025A4213}"/>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20E6001E-B967-4DE1-C830-3A4D1F3C0DE7}"/>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5706C0BB-5302-7298-D451-C1826EBB28EB}"/>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BLOCK DIAGRAM </a:t>
            </a:r>
            <a:endParaRPr lang="en-US" dirty="0"/>
          </a:p>
        </p:txBody>
      </p:sp>
      <p:sp>
        <p:nvSpPr>
          <p:cNvPr id="8" name="Text Box 25">
            <a:extLst>
              <a:ext uri="{FF2B5EF4-FFF2-40B4-BE49-F238E27FC236}">
                <a16:creationId xmlns:a16="http://schemas.microsoft.com/office/drawing/2014/main" id="{2DD109CA-6C3D-7945-AD48-A3F1FFB663CD}"/>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60AC7B51-BAC7-E291-C9DE-7A32ACDB0D16}"/>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itle 1">
            <a:extLst>
              <a:ext uri="{FF2B5EF4-FFF2-40B4-BE49-F238E27FC236}">
                <a16:creationId xmlns:a16="http://schemas.microsoft.com/office/drawing/2014/main" id="{192D82BE-5067-E086-C8C1-768777AF6AD0}"/>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9" name="Title 1">
            <a:extLst>
              <a:ext uri="{FF2B5EF4-FFF2-40B4-BE49-F238E27FC236}">
                <a16:creationId xmlns:a16="http://schemas.microsoft.com/office/drawing/2014/main" id="{EEAD14BB-F5A2-8BB8-E52C-4D7137472B0C}"/>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10" name="Rectangle 1">
            <a:extLst>
              <a:ext uri="{FF2B5EF4-FFF2-40B4-BE49-F238E27FC236}">
                <a16:creationId xmlns:a16="http://schemas.microsoft.com/office/drawing/2014/main" id="{AFA1520C-A3DC-1CB4-1B27-20784A598775}"/>
              </a:ext>
            </a:extLst>
          </p:cNvPr>
          <p:cNvSpPr txBox="1">
            <a:spLocks noChangeArrowheads="1"/>
          </p:cNvSpPr>
          <p:nvPr/>
        </p:nvSpPr>
        <p:spPr bwMode="auto">
          <a:xfrm>
            <a:off x="3039568" y="1773761"/>
            <a:ext cx="989047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Font typeface="Arial" panose="020B0604020202020204" pitchFamily="34" charset="0"/>
              <a:buNone/>
            </a:pPr>
            <a:endParaRPr lang="en-US" altLang="en-US" sz="1600">
              <a:ln>
                <a:solidFill>
                  <a:schemeClr val="tx1">
                    <a:lumMod val="95000"/>
                    <a:lumOff val="5000"/>
                  </a:schemeClr>
                </a:solidFill>
              </a:ln>
              <a:latin typeface="Times New Roman" panose="02020603050405020304" pitchFamily="18" charset="0"/>
              <a:ea typeface="+mj-ea"/>
              <a:cs typeface="Times New Roman" panose="02020603050405020304" pitchFamily="18" charset="0"/>
            </a:endParaRPr>
          </a:p>
          <a:p>
            <a:pPr marL="0" indent="0" fontAlgn="base">
              <a:spcBef>
                <a:spcPct val="0"/>
              </a:spcBef>
              <a:spcAft>
                <a:spcPct val="0"/>
              </a:spcAft>
              <a:buFont typeface="Arial" panose="020B0604020202020204" pitchFamily="34" charset="0"/>
              <a:buNone/>
            </a:pPr>
            <a:endParaRPr lang="en-US" altLang="en-US" sz="3200" dirty="0">
              <a:ln>
                <a:solidFill>
                  <a:schemeClr val="tx1">
                    <a:lumMod val="95000"/>
                    <a:lumOff val="5000"/>
                  </a:schemeClr>
                </a:solidFill>
              </a:ln>
              <a:solidFill>
                <a:srgbClr val="002060"/>
              </a:solidFill>
              <a:ea typeface="+mj-ea"/>
              <a:cs typeface="Times New Roman" panose="02020603050405020304" pitchFamily="18" charset="0"/>
            </a:endParaRPr>
          </a:p>
        </p:txBody>
      </p:sp>
      <p:pic>
        <p:nvPicPr>
          <p:cNvPr id="6" name="Picture 5">
            <a:extLst>
              <a:ext uri="{FF2B5EF4-FFF2-40B4-BE49-F238E27FC236}">
                <a16:creationId xmlns:a16="http://schemas.microsoft.com/office/drawing/2014/main" id="{680E2CAD-36AB-C883-3F0D-52B33E1F6FB1}"/>
              </a:ext>
            </a:extLst>
          </p:cNvPr>
          <p:cNvPicPr>
            <a:picLocks noChangeAspect="1"/>
          </p:cNvPicPr>
          <p:nvPr/>
        </p:nvPicPr>
        <p:blipFill>
          <a:blip r:embed="rId5"/>
          <a:stretch>
            <a:fillRect/>
          </a:stretch>
        </p:blipFill>
        <p:spPr>
          <a:xfrm>
            <a:off x="2664542" y="1220470"/>
            <a:ext cx="6114780" cy="5032818"/>
          </a:xfrm>
          <a:prstGeom prst="rect">
            <a:avLst/>
          </a:prstGeom>
        </p:spPr>
      </p:pic>
    </p:spTree>
    <p:extLst>
      <p:ext uri="{BB962C8B-B14F-4D97-AF65-F5344CB8AC3E}">
        <p14:creationId xmlns:p14="http://schemas.microsoft.com/office/powerpoint/2010/main" val="1409427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ABB4AB-EA3D-A79F-2C55-8862ABC8DD66}"/>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A9F2EF28-C023-2B5F-6F5E-D7545791F83C}"/>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3CAA3794-79A0-C69C-A07D-DBD58359F08C}"/>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6F8D7671-C4E1-6285-A8B4-AF92C14102DC}"/>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FF837EE-B192-56DC-A542-38526D201155}"/>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FLOW CHART</a:t>
            </a:r>
            <a:endParaRPr lang="en-US" dirty="0"/>
          </a:p>
        </p:txBody>
      </p:sp>
      <p:sp>
        <p:nvSpPr>
          <p:cNvPr id="6" name="Rectangle 1">
            <a:extLst>
              <a:ext uri="{FF2B5EF4-FFF2-40B4-BE49-F238E27FC236}">
                <a16:creationId xmlns:a16="http://schemas.microsoft.com/office/drawing/2014/main" id="{11A74B5E-5665-568D-91A5-24DC28C6A5F2}"/>
              </a:ext>
            </a:extLst>
          </p:cNvPr>
          <p:cNvSpPr>
            <a:spLocks noGrp="1" noChangeArrowheads="1"/>
          </p:cNvSpPr>
          <p:nvPr>
            <p:ph idx="1"/>
          </p:nvPr>
        </p:nvSpPr>
        <p:spPr bwMode="auto">
          <a:xfrm>
            <a:off x="3452529" y="3660201"/>
            <a:ext cx="989047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fontAlgn="base">
              <a:lnSpc>
                <a:spcPct val="150000"/>
              </a:lnSpc>
              <a:spcBef>
                <a:spcPct val="0"/>
              </a:spcBef>
              <a:spcAft>
                <a:spcPct val="0"/>
              </a:spcAft>
              <a:buClrTx/>
              <a:buSzTx/>
              <a:buNone/>
              <a:tabLst/>
            </a:pPr>
            <a:r>
              <a:rPr lang="en-US" altLang="en-US" sz="1600" dirty="0">
                <a:latin typeface="Times New Roman" panose="02020603050405020304" pitchFamily="18" charset="0"/>
                <a:ea typeface="+mj-ea"/>
                <a:cs typeface="Times New Roman" panose="02020603050405020304" pitchFamily="18" charset="0"/>
              </a:rPr>
              <a:t>.</a:t>
            </a:r>
          </a:p>
          <a:p>
            <a:pPr marL="0" marR="0" lvl="0" indent="0" fontAlgn="base">
              <a:spcBef>
                <a:spcPct val="0"/>
              </a:spcBef>
              <a:spcAft>
                <a:spcPct val="0"/>
              </a:spcAft>
              <a:buClrTx/>
              <a:buSzTx/>
              <a:buNone/>
              <a:tabLst/>
            </a:pPr>
            <a:endParaRPr lang="en-US" altLang="en-US" sz="3200" dirty="0">
              <a:solidFill>
                <a:srgbClr val="002060"/>
              </a:solidFill>
              <a:ea typeface="+mj-ea"/>
              <a:cs typeface="Times New Roman" panose="02020603050405020304" pitchFamily="18" charset="0"/>
            </a:endParaRPr>
          </a:p>
        </p:txBody>
      </p:sp>
      <p:sp>
        <p:nvSpPr>
          <p:cNvPr id="8" name="Text Box 25">
            <a:extLst>
              <a:ext uri="{FF2B5EF4-FFF2-40B4-BE49-F238E27FC236}">
                <a16:creationId xmlns:a16="http://schemas.microsoft.com/office/drawing/2014/main" id="{A864FE2F-3BFD-2495-37C2-EDCF645CB674}"/>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CDE9DDB3-29BE-12F8-6438-9FE1434BAAA2}"/>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pic>
        <p:nvPicPr>
          <p:cNvPr id="7" name="Picture 6">
            <a:extLst>
              <a:ext uri="{FF2B5EF4-FFF2-40B4-BE49-F238E27FC236}">
                <a16:creationId xmlns:a16="http://schemas.microsoft.com/office/drawing/2014/main" id="{3A35C8C0-26BC-FB52-2B7B-00715898D759}"/>
              </a:ext>
            </a:extLst>
          </p:cNvPr>
          <p:cNvPicPr>
            <a:picLocks noChangeAspect="1"/>
          </p:cNvPicPr>
          <p:nvPr/>
        </p:nvPicPr>
        <p:blipFill>
          <a:blip r:embed="rId5"/>
          <a:stretch>
            <a:fillRect/>
          </a:stretch>
        </p:blipFill>
        <p:spPr>
          <a:xfrm>
            <a:off x="3328667" y="998671"/>
            <a:ext cx="4837471" cy="5406485"/>
          </a:xfrm>
          <a:prstGeom prst="rect">
            <a:avLst/>
          </a:prstGeom>
        </p:spPr>
      </p:pic>
    </p:spTree>
    <p:extLst>
      <p:ext uri="{BB962C8B-B14F-4D97-AF65-F5344CB8AC3E}">
        <p14:creationId xmlns:p14="http://schemas.microsoft.com/office/powerpoint/2010/main" val="1071240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C33DE0-9A3B-8316-C207-9695DC43D12F}"/>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7AF013E2-E7A0-2611-5B04-6961BCF3C47F}"/>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0398EC65-EE6B-B286-4DF4-7BC72122994E}"/>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CA12D983-AAA7-D2F5-1E5A-CA9D79F8721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A8119C55-9ACB-1285-4230-E13D78C32F5D}"/>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COMPONENTS USED  </a:t>
            </a:r>
            <a:endParaRPr lang="en-US" dirty="0"/>
          </a:p>
        </p:txBody>
      </p:sp>
      <p:sp>
        <p:nvSpPr>
          <p:cNvPr id="8" name="Text Box 25">
            <a:extLst>
              <a:ext uri="{FF2B5EF4-FFF2-40B4-BE49-F238E27FC236}">
                <a16:creationId xmlns:a16="http://schemas.microsoft.com/office/drawing/2014/main" id="{0BFAA30A-A998-5B8D-3F44-7CF26C0A5F13}"/>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6FF69B6F-107A-5096-620F-F470100E52B5}"/>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itle 1">
            <a:extLst>
              <a:ext uri="{FF2B5EF4-FFF2-40B4-BE49-F238E27FC236}">
                <a16:creationId xmlns:a16="http://schemas.microsoft.com/office/drawing/2014/main" id="{D5A80A1A-8CED-F116-FF01-470C6F2AF3D4}"/>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9" name="Title 1">
            <a:extLst>
              <a:ext uri="{FF2B5EF4-FFF2-40B4-BE49-F238E27FC236}">
                <a16:creationId xmlns:a16="http://schemas.microsoft.com/office/drawing/2014/main" id="{6AB0616A-FB1F-0090-2C6A-6B21B883E5C4}"/>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10" name="Rectangle 1">
            <a:extLst>
              <a:ext uri="{FF2B5EF4-FFF2-40B4-BE49-F238E27FC236}">
                <a16:creationId xmlns:a16="http://schemas.microsoft.com/office/drawing/2014/main" id="{6250AC09-9E79-9357-5075-325A93BF3463}"/>
              </a:ext>
            </a:extLst>
          </p:cNvPr>
          <p:cNvSpPr txBox="1">
            <a:spLocks noChangeArrowheads="1"/>
          </p:cNvSpPr>
          <p:nvPr/>
        </p:nvSpPr>
        <p:spPr bwMode="auto">
          <a:xfrm>
            <a:off x="2931413" y="1949688"/>
            <a:ext cx="989047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Font typeface="Arial" panose="020B0604020202020204" pitchFamily="34" charset="0"/>
              <a:buNone/>
            </a:pPr>
            <a:endParaRPr lang="en-US" altLang="en-US" sz="1600">
              <a:ln>
                <a:solidFill>
                  <a:schemeClr val="tx1">
                    <a:lumMod val="95000"/>
                    <a:lumOff val="5000"/>
                  </a:schemeClr>
                </a:solidFill>
              </a:ln>
              <a:latin typeface="Times New Roman" panose="02020603050405020304" pitchFamily="18" charset="0"/>
              <a:ea typeface="+mj-ea"/>
              <a:cs typeface="Times New Roman" panose="02020603050405020304" pitchFamily="18" charset="0"/>
            </a:endParaRPr>
          </a:p>
          <a:p>
            <a:pPr marL="0" indent="0" fontAlgn="base">
              <a:spcBef>
                <a:spcPct val="0"/>
              </a:spcBef>
              <a:spcAft>
                <a:spcPct val="0"/>
              </a:spcAft>
              <a:buFont typeface="Arial" panose="020B0604020202020204" pitchFamily="34" charset="0"/>
              <a:buNone/>
            </a:pPr>
            <a:endParaRPr lang="en-US" altLang="en-US" sz="3200" dirty="0">
              <a:ln>
                <a:solidFill>
                  <a:schemeClr val="tx1">
                    <a:lumMod val="95000"/>
                    <a:lumOff val="5000"/>
                  </a:schemeClr>
                </a:solidFill>
              </a:ln>
              <a:solidFill>
                <a:srgbClr val="002060"/>
              </a:solidFill>
              <a:ea typeface="+mj-ea"/>
              <a:cs typeface="Times New Roman" panose="02020603050405020304" pitchFamily="18" charset="0"/>
            </a:endParaRPr>
          </a:p>
        </p:txBody>
      </p:sp>
      <p:sp>
        <p:nvSpPr>
          <p:cNvPr id="29" name="TextBox 28">
            <a:extLst>
              <a:ext uri="{FF2B5EF4-FFF2-40B4-BE49-F238E27FC236}">
                <a16:creationId xmlns:a16="http://schemas.microsoft.com/office/drawing/2014/main" id="{889EB5C9-20E9-E108-0E52-E9338F59E259}"/>
              </a:ext>
            </a:extLst>
          </p:cNvPr>
          <p:cNvSpPr txBox="1"/>
          <p:nvPr/>
        </p:nvSpPr>
        <p:spPr>
          <a:xfrm>
            <a:off x="2889813" y="1641491"/>
            <a:ext cx="6412374" cy="5035353"/>
          </a:xfrm>
          <a:prstGeom prst="rect">
            <a:avLst/>
          </a:prstGeom>
          <a:noFill/>
        </p:spPr>
        <p:txBody>
          <a:bodyPr wrap="square">
            <a:spAutoFit/>
          </a:bodyPr>
          <a:lstStyle/>
          <a:p>
            <a:pPr marL="285750" indent="-285750">
              <a:lnSpc>
                <a:spcPct val="150000"/>
              </a:lnSpc>
              <a:buFont typeface="Wingdings" panose="05000000000000000000" pitchFamily="2" charset="2"/>
              <a:buChar char="Ø"/>
            </a:pPr>
            <a:r>
              <a:rPr lang="en-IN" dirty="0"/>
              <a:t> ESP32</a:t>
            </a:r>
          </a:p>
          <a:p>
            <a:pPr marL="285750" indent="-285750">
              <a:lnSpc>
                <a:spcPct val="150000"/>
              </a:lnSpc>
              <a:buFont typeface="Wingdings" panose="05000000000000000000" pitchFamily="2" charset="2"/>
              <a:buChar char="Ø"/>
            </a:pPr>
            <a:r>
              <a:rPr lang="en-IN" dirty="0"/>
              <a:t>LITHIUM ION BATTERY                                             </a:t>
            </a:r>
          </a:p>
          <a:p>
            <a:pPr marL="285750" indent="-285750">
              <a:lnSpc>
                <a:spcPct val="150000"/>
              </a:lnSpc>
              <a:buFont typeface="Wingdings" panose="05000000000000000000" pitchFamily="2" charset="2"/>
              <a:buChar char="Ø"/>
            </a:pPr>
            <a:r>
              <a:rPr lang="en-IN" dirty="0"/>
              <a:t>SOLAR PANEL</a:t>
            </a:r>
          </a:p>
          <a:p>
            <a:pPr marL="285750" indent="-285750">
              <a:lnSpc>
                <a:spcPct val="150000"/>
              </a:lnSpc>
              <a:buFont typeface="Wingdings" panose="05000000000000000000" pitchFamily="2" charset="2"/>
              <a:buChar char="Ø"/>
            </a:pPr>
            <a:r>
              <a:rPr lang="en-IN" dirty="0"/>
              <a:t>ENVIRONMENTAL SENSOR</a:t>
            </a:r>
          </a:p>
          <a:p>
            <a:pPr marL="285750" indent="-285750">
              <a:lnSpc>
                <a:spcPct val="150000"/>
              </a:lnSpc>
              <a:buFont typeface="Wingdings" panose="05000000000000000000" pitchFamily="2" charset="2"/>
              <a:buChar char="Ø"/>
            </a:pPr>
            <a:r>
              <a:rPr lang="en-IN" dirty="0"/>
              <a:t>SOIL MOSITURE SENSOR</a:t>
            </a:r>
          </a:p>
          <a:p>
            <a:pPr marL="285750" indent="-285750">
              <a:lnSpc>
                <a:spcPct val="150000"/>
              </a:lnSpc>
              <a:buFont typeface="Wingdings" panose="05000000000000000000" pitchFamily="2" charset="2"/>
              <a:buChar char="Ø"/>
            </a:pPr>
            <a:r>
              <a:rPr lang="en-IN" dirty="0"/>
              <a:t>LEAF TILT SENSOR</a:t>
            </a:r>
            <a:endParaRPr lang="en-IN" dirty="0">
              <a:latin typeface="Cambria" panose="02040503050406030204" pitchFamily="18" charset="0"/>
              <a:ea typeface="Cambria" panose="02040503050406030204" pitchFamily="18" charset="0"/>
            </a:endParaRPr>
          </a:p>
          <a:p>
            <a:pPr marL="285750" indent="-285750">
              <a:lnSpc>
                <a:spcPct val="150000"/>
              </a:lnSpc>
              <a:buFont typeface="Wingdings" panose="05000000000000000000" pitchFamily="2" charset="2"/>
              <a:buChar char="Ø"/>
            </a:pPr>
            <a:r>
              <a:rPr lang="en-IN" dirty="0">
                <a:latin typeface="Cambria" panose="02040503050406030204" pitchFamily="18" charset="0"/>
                <a:ea typeface="Cambria" panose="02040503050406030204" pitchFamily="18" charset="0"/>
              </a:rPr>
              <a:t>JUMPER WIRES</a:t>
            </a:r>
          </a:p>
          <a:p>
            <a:pPr marL="285750" indent="-285750">
              <a:lnSpc>
                <a:spcPct val="150000"/>
              </a:lnSpc>
              <a:buFont typeface="Wingdings" panose="05000000000000000000" pitchFamily="2" charset="2"/>
              <a:buChar char="Ø"/>
            </a:pPr>
            <a:r>
              <a:rPr lang="en-IN" dirty="0">
                <a:latin typeface="Cambria" panose="02040503050406030204" pitchFamily="18" charset="0"/>
                <a:ea typeface="Cambria" panose="02040503050406030204" pitchFamily="18" charset="0"/>
              </a:rPr>
              <a:t>12V MOTOR</a:t>
            </a:r>
          </a:p>
          <a:p>
            <a:pPr marL="285750" indent="-285750">
              <a:lnSpc>
                <a:spcPct val="150000"/>
              </a:lnSpc>
              <a:buFont typeface="Wingdings" panose="05000000000000000000" pitchFamily="2" charset="2"/>
              <a:buChar char="Ø"/>
            </a:pPr>
            <a:r>
              <a:rPr lang="en-IN" dirty="0">
                <a:latin typeface="Cambria" panose="02040503050406030204" pitchFamily="18" charset="0"/>
                <a:ea typeface="Cambria" panose="02040503050406030204" pitchFamily="18" charset="0"/>
              </a:rPr>
              <a:t>RELAY</a:t>
            </a:r>
          </a:p>
          <a:p>
            <a:pPr marL="285750" indent="-285750">
              <a:lnSpc>
                <a:spcPct val="150000"/>
              </a:lnSpc>
              <a:buFont typeface="Wingdings" panose="05000000000000000000" pitchFamily="2" charset="2"/>
              <a:buChar char="Ø"/>
            </a:pPr>
            <a:r>
              <a:rPr lang="en-IN" dirty="0">
                <a:latin typeface="Cambria" panose="02040503050406030204" pitchFamily="18" charset="0"/>
                <a:ea typeface="Cambria" panose="02040503050406030204" pitchFamily="18" charset="0"/>
              </a:rPr>
              <a:t>BREAD BOARD</a:t>
            </a:r>
          </a:p>
          <a:p>
            <a:pPr marL="285750" indent="-285750">
              <a:lnSpc>
                <a:spcPct val="150000"/>
              </a:lnSpc>
              <a:buFont typeface="Wingdings" panose="05000000000000000000" pitchFamily="2" charset="2"/>
              <a:buChar char="Ø"/>
            </a:pPr>
            <a:endParaRPr lang="en-IN" dirty="0"/>
          </a:p>
          <a:p>
            <a:pPr>
              <a:lnSpc>
                <a:spcPct val="150000"/>
              </a:lnSpc>
            </a:pPr>
            <a:endParaRPr lang="en-IN" dirty="0"/>
          </a:p>
        </p:txBody>
      </p:sp>
    </p:spTree>
    <p:extLst>
      <p:ext uri="{BB962C8B-B14F-4D97-AF65-F5344CB8AC3E}">
        <p14:creationId xmlns:p14="http://schemas.microsoft.com/office/powerpoint/2010/main" val="39862095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99CA14-0990-E020-DEF8-39F8E328F94D}"/>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1F4EC02B-6345-94CD-0428-5F435D1B064A}"/>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B84A5541-62E8-6B58-0AD1-3CF6F361DC18}"/>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983BCC9E-4EEE-571F-B522-5BDBD381140E}"/>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5EBA0893-C165-D310-7F63-FE94C7CE706D}"/>
              </a:ext>
            </a:extLst>
          </p:cNvPr>
          <p:cNvSpPr txBox="1"/>
          <p:nvPr/>
        </p:nvSpPr>
        <p:spPr>
          <a:xfrm>
            <a:off x="945575" y="183127"/>
            <a:ext cx="9344330" cy="1220470"/>
          </a:xfrm>
          <a:prstGeom prst="rect">
            <a:avLst/>
          </a:prstGeom>
          <a:noFill/>
        </p:spPr>
        <p:txBody>
          <a:bodyPr wrap="square" rtlCol="0" anchor="t">
            <a:noAutofit/>
          </a:bodyPr>
          <a:lstStyle/>
          <a:p>
            <a:pPr algn="ctr"/>
            <a:r>
              <a:rPr lang="en-US" sz="3200" dirty="0">
                <a:solidFill>
                  <a:srgbClr val="0070C0"/>
                </a:solidFill>
                <a:sym typeface="+mn-ea"/>
              </a:rPr>
              <a:t>SIMULATION</a:t>
            </a:r>
            <a:r>
              <a:rPr lang="en-US" sz="2800" dirty="0">
                <a:solidFill>
                  <a:srgbClr val="0070C0"/>
                </a:solidFill>
                <a:latin typeface="+mn-ea"/>
                <a:cs typeface="+mn-ea"/>
                <a:sym typeface="+mn-ea"/>
              </a:rPr>
              <a:t> </a:t>
            </a:r>
            <a:endParaRPr lang="en-US" dirty="0"/>
          </a:p>
        </p:txBody>
      </p:sp>
      <p:sp>
        <p:nvSpPr>
          <p:cNvPr id="8" name="Text Box 25">
            <a:extLst>
              <a:ext uri="{FF2B5EF4-FFF2-40B4-BE49-F238E27FC236}">
                <a16:creationId xmlns:a16="http://schemas.microsoft.com/office/drawing/2014/main" id="{A5129D7D-5E08-6F1F-D121-5CE47BB362CE}"/>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15BAACF5-EB60-CA89-C1C1-6B74776FC13B}"/>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itle 1">
            <a:extLst>
              <a:ext uri="{FF2B5EF4-FFF2-40B4-BE49-F238E27FC236}">
                <a16:creationId xmlns:a16="http://schemas.microsoft.com/office/drawing/2014/main" id="{2A073A97-D524-0CDD-2B93-54082EEAB47D}"/>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9" name="Title 1">
            <a:extLst>
              <a:ext uri="{FF2B5EF4-FFF2-40B4-BE49-F238E27FC236}">
                <a16:creationId xmlns:a16="http://schemas.microsoft.com/office/drawing/2014/main" id="{5FC0028B-00A8-AC3A-0126-E9446822391A}"/>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10" name="Rectangle 1">
            <a:extLst>
              <a:ext uri="{FF2B5EF4-FFF2-40B4-BE49-F238E27FC236}">
                <a16:creationId xmlns:a16="http://schemas.microsoft.com/office/drawing/2014/main" id="{F900BD8F-25B3-D52E-456D-3947143DF88C}"/>
              </a:ext>
            </a:extLst>
          </p:cNvPr>
          <p:cNvSpPr txBox="1">
            <a:spLocks noChangeArrowheads="1"/>
          </p:cNvSpPr>
          <p:nvPr/>
        </p:nvSpPr>
        <p:spPr bwMode="auto">
          <a:xfrm>
            <a:off x="4300260" y="1939233"/>
            <a:ext cx="6284613"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Font typeface="Arial" panose="020B0604020202020204" pitchFamily="34" charset="0"/>
              <a:buNone/>
            </a:pPr>
            <a:endParaRPr lang="en-US" altLang="en-US" sz="1600">
              <a:ln>
                <a:solidFill>
                  <a:schemeClr val="tx1">
                    <a:lumMod val="95000"/>
                    <a:lumOff val="5000"/>
                  </a:schemeClr>
                </a:solidFill>
              </a:ln>
              <a:latin typeface="Times New Roman" panose="02020603050405020304" pitchFamily="18" charset="0"/>
              <a:ea typeface="+mj-ea"/>
              <a:cs typeface="Times New Roman" panose="02020603050405020304" pitchFamily="18" charset="0"/>
            </a:endParaRPr>
          </a:p>
          <a:p>
            <a:pPr marL="0" indent="0" fontAlgn="base">
              <a:spcBef>
                <a:spcPct val="0"/>
              </a:spcBef>
              <a:spcAft>
                <a:spcPct val="0"/>
              </a:spcAft>
              <a:buFont typeface="Arial" panose="020B0604020202020204" pitchFamily="34" charset="0"/>
              <a:buNone/>
            </a:pPr>
            <a:endParaRPr lang="en-US" altLang="en-US" sz="3200" dirty="0">
              <a:ln>
                <a:solidFill>
                  <a:schemeClr val="tx1">
                    <a:lumMod val="95000"/>
                    <a:lumOff val="5000"/>
                  </a:schemeClr>
                </a:solidFill>
              </a:ln>
              <a:solidFill>
                <a:srgbClr val="002060"/>
              </a:solidFill>
              <a:ea typeface="+mj-ea"/>
              <a:cs typeface="Times New Roman" panose="02020603050405020304" pitchFamily="18" charset="0"/>
            </a:endParaRPr>
          </a:p>
        </p:txBody>
      </p:sp>
      <p:sp>
        <p:nvSpPr>
          <p:cNvPr id="29" name="TextBox 28">
            <a:extLst>
              <a:ext uri="{FF2B5EF4-FFF2-40B4-BE49-F238E27FC236}">
                <a16:creationId xmlns:a16="http://schemas.microsoft.com/office/drawing/2014/main" id="{C23176BE-5ED0-6572-E074-A562809121A8}"/>
              </a:ext>
            </a:extLst>
          </p:cNvPr>
          <p:cNvSpPr txBox="1"/>
          <p:nvPr/>
        </p:nvSpPr>
        <p:spPr>
          <a:xfrm>
            <a:off x="4502303" y="2074060"/>
            <a:ext cx="6412374" cy="880369"/>
          </a:xfrm>
          <a:prstGeom prst="rect">
            <a:avLst/>
          </a:prstGeom>
          <a:noFill/>
        </p:spPr>
        <p:txBody>
          <a:bodyPr wrap="square">
            <a:spAutoFit/>
          </a:bodyPr>
          <a:lstStyle/>
          <a:p>
            <a:pPr marL="285750" indent="-285750">
              <a:lnSpc>
                <a:spcPct val="150000"/>
              </a:lnSpc>
              <a:buFont typeface="Wingdings" panose="05000000000000000000" pitchFamily="2" charset="2"/>
              <a:buChar char="Ø"/>
            </a:pPr>
            <a:endParaRPr lang="en-IN" dirty="0"/>
          </a:p>
          <a:p>
            <a:pPr>
              <a:lnSpc>
                <a:spcPct val="150000"/>
              </a:lnSpc>
            </a:pPr>
            <a:endParaRPr lang="en-IN" dirty="0"/>
          </a:p>
        </p:txBody>
      </p:sp>
      <p:pic>
        <p:nvPicPr>
          <p:cNvPr id="6" name="Picture 5">
            <a:extLst>
              <a:ext uri="{FF2B5EF4-FFF2-40B4-BE49-F238E27FC236}">
                <a16:creationId xmlns:a16="http://schemas.microsoft.com/office/drawing/2014/main" id="{1025CEB0-26AE-3995-003A-8D8DDC7684B2}"/>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440873" y="1504335"/>
            <a:ext cx="5544349" cy="2198345"/>
          </a:xfrm>
          <a:prstGeom prst="rect">
            <a:avLst/>
          </a:prstGeom>
          <a:noFill/>
        </p:spPr>
      </p:pic>
      <p:pic>
        <p:nvPicPr>
          <p:cNvPr id="11" name="Picture 10">
            <a:extLst>
              <a:ext uri="{FF2B5EF4-FFF2-40B4-BE49-F238E27FC236}">
                <a16:creationId xmlns:a16="http://schemas.microsoft.com/office/drawing/2014/main" id="{4414549E-9E47-3B37-D30C-5516DDF1ABFC}"/>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955371" y="3784659"/>
            <a:ext cx="6130262" cy="2371318"/>
          </a:xfrm>
          <a:prstGeom prst="rect">
            <a:avLst/>
          </a:prstGeom>
          <a:noFill/>
        </p:spPr>
      </p:pic>
    </p:spTree>
    <p:extLst>
      <p:ext uri="{BB962C8B-B14F-4D97-AF65-F5344CB8AC3E}">
        <p14:creationId xmlns:p14="http://schemas.microsoft.com/office/powerpoint/2010/main" val="17388483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71DE9-01E3-4A84-112C-37B516BA1F54}"/>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91D09BFA-20F6-5AC9-8E94-9C6261B77010}"/>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15F7A6D8-B282-57D6-B4DD-72ED40C25C1B}"/>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D9CCDA61-832B-3E7A-42DF-8F7808FC9D7D}"/>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49C37201-0A02-BD2F-D8B1-702C4F26ED15}"/>
              </a:ext>
            </a:extLst>
          </p:cNvPr>
          <p:cNvSpPr txBox="1"/>
          <p:nvPr/>
        </p:nvSpPr>
        <p:spPr>
          <a:xfrm>
            <a:off x="1240543" y="0"/>
            <a:ext cx="9344330" cy="1220470"/>
          </a:xfrm>
          <a:prstGeom prst="rect">
            <a:avLst/>
          </a:prstGeom>
          <a:noFill/>
        </p:spPr>
        <p:txBody>
          <a:bodyPr wrap="square" rtlCol="0" anchor="t">
            <a:noAutofit/>
          </a:bodyPr>
          <a:lstStyle/>
          <a:p>
            <a:pPr algn="ctr"/>
            <a:endParaRPr lang="en-US" dirty="0">
              <a:solidFill>
                <a:srgbClr val="0070C0"/>
              </a:solidFill>
              <a:sym typeface="+mn-ea"/>
            </a:endParaRPr>
          </a:p>
          <a:p>
            <a:pPr algn="ctr"/>
            <a:r>
              <a:rPr lang="en-US" sz="2800" dirty="0">
                <a:solidFill>
                  <a:srgbClr val="0070C0"/>
                </a:solidFill>
                <a:latin typeface="+mn-ea"/>
                <a:cs typeface="+mn-ea"/>
                <a:sym typeface="+mn-ea"/>
              </a:rPr>
              <a:t>RESULT AND CONCLUSION </a:t>
            </a:r>
            <a:endParaRPr lang="en-US" dirty="0"/>
          </a:p>
        </p:txBody>
      </p:sp>
      <p:sp>
        <p:nvSpPr>
          <p:cNvPr id="8" name="Text Box 25">
            <a:extLst>
              <a:ext uri="{FF2B5EF4-FFF2-40B4-BE49-F238E27FC236}">
                <a16:creationId xmlns:a16="http://schemas.microsoft.com/office/drawing/2014/main" id="{7CAF0929-DDDC-58B8-9AE3-A41AA09EF18B}"/>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5" name="Picture 4">
            <a:extLst>
              <a:ext uri="{FF2B5EF4-FFF2-40B4-BE49-F238E27FC236}">
                <a16:creationId xmlns:a16="http://schemas.microsoft.com/office/drawing/2014/main" id="{1F3C1177-D53F-56B5-57AE-D8AF360394D0}"/>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7" name="Title 1">
            <a:extLst>
              <a:ext uri="{FF2B5EF4-FFF2-40B4-BE49-F238E27FC236}">
                <a16:creationId xmlns:a16="http://schemas.microsoft.com/office/drawing/2014/main" id="{36E87BFE-940D-E134-3198-9A47E303E4C4}"/>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9" name="Title 1">
            <a:extLst>
              <a:ext uri="{FF2B5EF4-FFF2-40B4-BE49-F238E27FC236}">
                <a16:creationId xmlns:a16="http://schemas.microsoft.com/office/drawing/2014/main" id="{5FD753E8-7AA1-89E9-38FF-935237BC445D}"/>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10" name="Rectangle 1">
            <a:extLst>
              <a:ext uri="{FF2B5EF4-FFF2-40B4-BE49-F238E27FC236}">
                <a16:creationId xmlns:a16="http://schemas.microsoft.com/office/drawing/2014/main" id="{0C360992-18CC-831B-5420-DEA89627CA54}"/>
              </a:ext>
            </a:extLst>
          </p:cNvPr>
          <p:cNvSpPr txBox="1">
            <a:spLocks noChangeArrowheads="1"/>
          </p:cNvSpPr>
          <p:nvPr/>
        </p:nvSpPr>
        <p:spPr bwMode="auto">
          <a:xfrm>
            <a:off x="2931413" y="1949688"/>
            <a:ext cx="9890474" cy="9048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base">
              <a:lnSpc>
                <a:spcPct val="150000"/>
              </a:lnSpc>
              <a:spcBef>
                <a:spcPct val="0"/>
              </a:spcBef>
              <a:spcAft>
                <a:spcPct val="0"/>
              </a:spcAft>
              <a:buFont typeface="Arial" panose="020B0604020202020204" pitchFamily="34" charset="0"/>
              <a:buNone/>
            </a:pPr>
            <a:endParaRPr lang="en-US" altLang="en-US" sz="1600">
              <a:ln>
                <a:solidFill>
                  <a:schemeClr val="tx1">
                    <a:lumMod val="95000"/>
                    <a:lumOff val="5000"/>
                  </a:schemeClr>
                </a:solidFill>
              </a:ln>
              <a:latin typeface="Times New Roman" panose="02020603050405020304" pitchFamily="18" charset="0"/>
              <a:ea typeface="+mj-ea"/>
              <a:cs typeface="Times New Roman" panose="02020603050405020304" pitchFamily="18" charset="0"/>
            </a:endParaRPr>
          </a:p>
          <a:p>
            <a:pPr marL="0" indent="0" fontAlgn="base">
              <a:spcBef>
                <a:spcPct val="0"/>
              </a:spcBef>
              <a:spcAft>
                <a:spcPct val="0"/>
              </a:spcAft>
              <a:buFont typeface="Arial" panose="020B0604020202020204" pitchFamily="34" charset="0"/>
              <a:buNone/>
            </a:pPr>
            <a:endParaRPr lang="en-US" altLang="en-US" sz="3200" dirty="0">
              <a:ln>
                <a:solidFill>
                  <a:schemeClr val="tx1">
                    <a:lumMod val="95000"/>
                    <a:lumOff val="5000"/>
                  </a:schemeClr>
                </a:solidFill>
              </a:ln>
              <a:solidFill>
                <a:srgbClr val="002060"/>
              </a:solidFill>
              <a:ea typeface="+mj-ea"/>
              <a:cs typeface="Times New Roman" panose="02020603050405020304" pitchFamily="18" charset="0"/>
            </a:endParaRPr>
          </a:p>
        </p:txBody>
      </p:sp>
      <p:sp>
        <p:nvSpPr>
          <p:cNvPr id="29" name="TextBox 28">
            <a:extLst>
              <a:ext uri="{FF2B5EF4-FFF2-40B4-BE49-F238E27FC236}">
                <a16:creationId xmlns:a16="http://schemas.microsoft.com/office/drawing/2014/main" id="{E7A032CD-A2CA-9A96-C00C-3D3CF5AED3D0}"/>
              </a:ext>
            </a:extLst>
          </p:cNvPr>
          <p:cNvSpPr txBox="1"/>
          <p:nvPr/>
        </p:nvSpPr>
        <p:spPr>
          <a:xfrm>
            <a:off x="776748" y="1641491"/>
            <a:ext cx="10658168" cy="4209101"/>
          </a:xfrm>
          <a:prstGeom prst="rect">
            <a:avLst/>
          </a:prstGeom>
          <a:noFill/>
        </p:spPr>
        <p:txBody>
          <a:bodyPr wrap="square">
            <a:spAutoFit/>
          </a:bodyPr>
          <a:lstStyle/>
          <a:p>
            <a:pPr>
              <a:lnSpc>
                <a:spcPct val="150000"/>
              </a:lnSpc>
            </a:pPr>
            <a:r>
              <a:rPr lang="en-US" b="1" dirty="0"/>
              <a:t>RESULT:</a:t>
            </a:r>
          </a:p>
          <a:p>
            <a:pPr marL="285750" indent="-285750">
              <a:lnSpc>
                <a:spcPct val="150000"/>
              </a:lnSpc>
              <a:buFont typeface="Wingdings" panose="05000000000000000000" pitchFamily="2" charset="2"/>
              <a:buChar char="Ø"/>
            </a:pPr>
            <a:r>
              <a:rPr lang="en-US" sz="1600" dirty="0"/>
              <a:t>High Accuracy: Achieved over 90% precision in rainfall forecasting using plant and environmental data.</a:t>
            </a:r>
          </a:p>
          <a:p>
            <a:pPr marL="285750" indent="-285750">
              <a:lnSpc>
                <a:spcPct val="150000"/>
              </a:lnSpc>
              <a:buFont typeface="Wingdings" panose="05000000000000000000" pitchFamily="2" charset="2"/>
              <a:buChar char="Ø"/>
            </a:pPr>
            <a:r>
              <a:rPr lang="en-US" sz="1600" dirty="0"/>
              <a:t>Water Saving: Reduced water usage by 34% through intelligent irrigation control.</a:t>
            </a:r>
          </a:p>
          <a:p>
            <a:pPr marL="285750" indent="-285750">
              <a:lnSpc>
                <a:spcPct val="150000"/>
              </a:lnSpc>
              <a:buFont typeface="Wingdings" panose="05000000000000000000" pitchFamily="2" charset="2"/>
              <a:buChar char="Ø"/>
            </a:pPr>
            <a:r>
              <a:rPr lang="en-US" sz="1600" dirty="0"/>
              <a:t>Energy Efficient: Ensured 65% energy conservation via solar-powered operation.</a:t>
            </a:r>
          </a:p>
          <a:p>
            <a:pPr marL="285750" indent="-285750">
              <a:lnSpc>
                <a:spcPct val="150000"/>
              </a:lnSpc>
              <a:buFont typeface="Wingdings" panose="05000000000000000000" pitchFamily="2" charset="2"/>
              <a:buChar char="Ø"/>
            </a:pPr>
            <a:r>
              <a:rPr lang="en-US" sz="1600" dirty="0"/>
              <a:t>Smart Processing: Edge-cloud system enabled real-time actions and adaptive learning.</a:t>
            </a:r>
          </a:p>
          <a:p>
            <a:pPr marL="285750" indent="-285750">
              <a:lnSpc>
                <a:spcPct val="150000"/>
              </a:lnSpc>
              <a:buFont typeface="Wingdings" panose="05000000000000000000" pitchFamily="2" charset="2"/>
              <a:buChar char="Ø"/>
            </a:pPr>
            <a:r>
              <a:rPr lang="en-US" sz="1600" dirty="0"/>
              <a:t>Advanced AI: Used Bi-LSTM, CNN, Neural Prophet, and XG-Boost for accurate and resilient performance.</a:t>
            </a:r>
          </a:p>
          <a:p>
            <a:pPr>
              <a:lnSpc>
                <a:spcPct val="150000"/>
              </a:lnSpc>
            </a:pPr>
            <a:endParaRPr lang="en-US" sz="1600" dirty="0"/>
          </a:p>
          <a:p>
            <a:pPr>
              <a:lnSpc>
                <a:spcPct val="150000"/>
              </a:lnSpc>
            </a:pPr>
            <a:r>
              <a:rPr lang="en-US" b="1" dirty="0"/>
              <a:t>CONCLUSION:</a:t>
            </a:r>
          </a:p>
          <a:p>
            <a:pPr>
              <a:lnSpc>
                <a:spcPct val="150000"/>
              </a:lnSpc>
            </a:pPr>
            <a:r>
              <a:rPr lang="en-US" sz="1600" dirty="0"/>
              <a:t>            The proposed IoT-enhanced, solar-driven AI system effectively revolutionizes precision agriculture by integrating smart sensing, renewable energy, and advanced analytics. It demonstrates high accuracy, reduced resource consumption, and sustainable functionality, paving the way for self-sufficient, eco-friendly farming solutions in remote rural regions.</a:t>
            </a:r>
            <a:endParaRPr lang="en-IN" sz="1600" dirty="0"/>
          </a:p>
        </p:txBody>
      </p:sp>
    </p:spTree>
    <p:extLst>
      <p:ext uri="{BB962C8B-B14F-4D97-AF65-F5344CB8AC3E}">
        <p14:creationId xmlns:p14="http://schemas.microsoft.com/office/powerpoint/2010/main" val="8039601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E0755-D8FA-FAE9-A4CB-4F2EE4416A3B}"/>
            </a:ext>
          </a:extLst>
        </p:cNvPr>
        <p:cNvGrpSpPr/>
        <p:nvPr/>
      </p:nvGrpSpPr>
      <p:grpSpPr>
        <a:xfrm>
          <a:off x="0" y="0"/>
          <a:ext cx="0" cy="0"/>
          <a:chOff x="0" y="0"/>
          <a:chExt cx="0" cy="0"/>
        </a:xfrm>
      </p:grpSpPr>
      <p:sp>
        <p:nvSpPr>
          <p:cNvPr id="19" name="Title 1">
            <a:extLst>
              <a:ext uri="{FF2B5EF4-FFF2-40B4-BE49-F238E27FC236}">
                <a16:creationId xmlns:a16="http://schemas.microsoft.com/office/drawing/2014/main" id="{BC793210-144F-50D6-E348-761F9300F970}"/>
              </a:ext>
            </a:extLst>
          </p:cNvPr>
          <p:cNvSpPr>
            <a:spLocks noGrp="1"/>
          </p:cNvSpPr>
          <p:nvPr/>
        </p:nvSpPr>
        <p:spPr>
          <a:xfrm>
            <a:off x="1440873" y="1773761"/>
            <a:ext cx="9144000" cy="631075"/>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3200" b="1" kern="1200" baseline="0">
                <a:solidFill>
                  <a:schemeClr val="accent2">
                    <a:lumMod val="50000"/>
                  </a:schemeClr>
                </a:solidFill>
                <a:latin typeface="Arial Black" panose="020B0A04020102020204" pitchFamily="34" charset="0"/>
                <a:ea typeface="+mj-ea"/>
                <a:cs typeface="Times New Roman" panose="02020603050405020304" pitchFamily="18" charset="0"/>
              </a:defRPr>
            </a:lvl1pPr>
          </a:lstStyle>
          <a:p>
            <a:endParaRPr lang="en-US" sz="3600" dirty="0">
              <a:latin typeface="+mn-ea"/>
              <a:cs typeface="+mn-ea"/>
            </a:endParaRPr>
          </a:p>
        </p:txBody>
      </p:sp>
      <p:sp>
        <p:nvSpPr>
          <p:cNvPr id="2" name="Rectangle 1">
            <a:extLst>
              <a:ext uri="{FF2B5EF4-FFF2-40B4-BE49-F238E27FC236}">
                <a16:creationId xmlns:a16="http://schemas.microsoft.com/office/drawing/2014/main" id="{66F485F3-3DC6-92BE-8D58-EB3CD9C07596}"/>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B8C39C38-EDF2-9849-E55B-F3DA10E6600B}"/>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4" name="Text Box 27">
            <a:extLst>
              <a:ext uri="{FF2B5EF4-FFF2-40B4-BE49-F238E27FC236}">
                <a16:creationId xmlns:a16="http://schemas.microsoft.com/office/drawing/2014/main" id="{E6F36244-5730-76A0-14B4-CF4D1488F819}"/>
              </a:ext>
            </a:extLst>
          </p:cNvPr>
          <p:cNvSpPr txBox="1"/>
          <p:nvPr/>
        </p:nvSpPr>
        <p:spPr>
          <a:xfrm>
            <a:off x="906670" y="0"/>
            <a:ext cx="9344330" cy="1220470"/>
          </a:xfrm>
          <a:prstGeom prst="rect">
            <a:avLst/>
          </a:prstGeom>
          <a:noFill/>
        </p:spPr>
        <p:txBody>
          <a:bodyPr wrap="square" rtlCol="0" anchor="t">
            <a:noAutofit/>
          </a:bodyPr>
          <a:lstStyle/>
          <a:p>
            <a:endParaRPr lang="en-US" dirty="0"/>
          </a:p>
          <a:p>
            <a:pPr algn="ctr"/>
            <a:r>
              <a:rPr lang="en-US" dirty="0">
                <a:latin typeface="+mn-ea"/>
                <a:cs typeface="+mn-ea"/>
                <a:sym typeface="+mn-ea"/>
              </a:rPr>
              <a:t>       </a:t>
            </a:r>
            <a:r>
              <a:rPr lang="en-US" dirty="0">
                <a:solidFill>
                  <a:srgbClr val="0070C0"/>
                </a:solidFill>
                <a:latin typeface="+mn-ea"/>
                <a:cs typeface="+mn-ea"/>
                <a:sym typeface="+mn-ea"/>
              </a:rPr>
              <a:t> </a:t>
            </a:r>
            <a:r>
              <a:rPr lang="en-US" sz="2800" dirty="0">
                <a:solidFill>
                  <a:srgbClr val="0070C0"/>
                </a:solidFill>
                <a:latin typeface="+mn-ea"/>
                <a:cs typeface="+mn-ea"/>
                <a:sym typeface="+mn-ea"/>
              </a:rPr>
              <a:t>REFERENCES</a:t>
            </a:r>
            <a:endParaRPr lang="en-US" sz="2800" dirty="0">
              <a:solidFill>
                <a:srgbClr val="0070C0"/>
              </a:solidFill>
            </a:endParaRPr>
          </a:p>
          <a:p>
            <a:endParaRPr lang="en-US" dirty="0"/>
          </a:p>
          <a:p>
            <a:endParaRPr lang="en-US" dirty="0"/>
          </a:p>
        </p:txBody>
      </p:sp>
      <p:sp>
        <p:nvSpPr>
          <p:cNvPr id="5" name="Text Box 25">
            <a:extLst>
              <a:ext uri="{FF2B5EF4-FFF2-40B4-BE49-F238E27FC236}">
                <a16:creationId xmlns:a16="http://schemas.microsoft.com/office/drawing/2014/main" id="{C7B808D0-58F9-80D6-1F12-937C78DEC1C7}"/>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7" name="Picture 6">
            <a:extLst>
              <a:ext uri="{FF2B5EF4-FFF2-40B4-BE49-F238E27FC236}">
                <a16:creationId xmlns:a16="http://schemas.microsoft.com/office/drawing/2014/main" id="{E4D543E6-69D1-7764-F08D-B441B337C317}"/>
              </a:ext>
            </a:extLst>
          </p:cNvPr>
          <p:cNvPicPr>
            <a:picLocks noChangeAspect="1"/>
          </p:cNvPicPr>
          <p:nvPr/>
        </p:nvPicPr>
        <p:blipFill>
          <a:blip r:embed="rId4"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
        <p:nvSpPr>
          <p:cNvPr id="8" name="Content Placeholder 7">
            <a:extLst>
              <a:ext uri="{FF2B5EF4-FFF2-40B4-BE49-F238E27FC236}">
                <a16:creationId xmlns:a16="http://schemas.microsoft.com/office/drawing/2014/main" id="{70B85992-2E86-DD43-78A2-5104987B0FA0}"/>
              </a:ext>
            </a:extLst>
          </p:cNvPr>
          <p:cNvSpPr>
            <a:spLocks noGrp="1"/>
          </p:cNvSpPr>
          <p:nvPr>
            <p:ph sz="half" idx="1"/>
          </p:nvPr>
        </p:nvSpPr>
        <p:spPr>
          <a:xfrm>
            <a:off x="394966" y="1136719"/>
            <a:ext cx="11235813" cy="5657499"/>
          </a:xfrm>
        </p:spPr>
        <p:txBody>
          <a:bodyPr>
            <a:noAutofit/>
          </a:bodyPr>
          <a:lstStyle/>
          <a:p>
            <a:pPr>
              <a:lnSpc>
                <a:spcPct val="100000"/>
              </a:lnSpc>
              <a:buFont typeface="Wingdings" panose="05000000000000000000" pitchFamily="2" charset="2"/>
              <a:buChar char="Ø"/>
            </a:pPr>
            <a:r>
              <a:rPr lang="en-IN" sz="1600" dirty="0"/>
              <a:t>[1] D. Parihar, A. Chaudhary, S. </a:t>
            </a:r>
            <a:r>
              <a:rPr lang="en-IN" sz="1600" dirty="0" err="1"/>
              <a:t>Peddoju</a:t>
            </a:r>
            <a:r>
              <a:rPr lang="en-IN" sz="1600" dirty="0"/>
              <a:t> and K. </a:t>
            </a:r>
            <a:r>
              <a:rPr lang="en-IN" sz="1600" dirty="0" err="1"/>
              <a:t>Kadarla</a:t>
            </a:r>
            <a:r>
              <a:rPr lang="en-IN" sz="1600" dirty="0"/>
              <a:t>, "A Data-Centric Approach to Weather Prediction: IoT and Machine Learning on Drone Platforms," </a:t>
            </a:r>
            <a:r>
              <a:rPr lang="en-IN" sz="1600" i="1" dirty="0"/>
              <a:t>2024 </a:t>
            </a:r>
            <a:endParaRPr lang="en-IN" sz="1600" dirty="0"/>
          </a:p>
          <a:p>
            <a:pPr>
              <a:lnSpc>
                <a:spcPct val="100000"/>
              </a:lnSpc>
              <a:buFont typeface="Wingdings" panose="05000000000000000000" pitchFamily="2" charset="2"/>
              <a:buChar char="Ø"/>
            </a:pPr>
            <a:r>
              <a:rPr lang="en-IN" sz="1600" dirty="0"/>
              <a:t>[2] S. Indhumathi, S. </a:t>
            </a:r>
            <a:r>
              <a:rPr lang="en-IN" sz="1600" dirty="0" err="1"/>
              <a:t>Aghalya</a:t>
            </a:r>
            <a:r>
              <a:rPr lang="en-IN" sz="1600" dirty="0"/>
              <a:t>, S. J. A and P. Aarthi M, "IoT-Enabled Weather Monitoring and Rainfall Prediction using Machine Learning Algorithm," </a:t>
            </a:r>
            <a:r>
              <a:rPr lang="en-IN" sz="1600" i="1" dirty="0"/>
              <a:t>2023</a:t>
            </a:r>
            <a:r>
              <a:rPr lang="en-IN" sz="1600" dirty="0"/>
              <a:t>.</a:t>
            </a:r>
          </a:p>
          <a:p>
            <a:pPr>
              <a:lnSpc>
                <a:spcPct val="100000"/>
              </a:lnSpc>
              <a:buFont typeface="Wingdings" panose="05000000000000000000" pitchFamily="2" charset="2"/>
              <a:buChar char="Ø"/>
            </a:pPr>
            <a:r>
              <a:rPr lang="en-IN" sz="1600" dirty="0"/>
              <a:t> [3]. I. Arefin, F. H. Khan, R. A. Ayon, M. T. Hasan and A. A. M. Azad, "A Solar Powered Irrigation System to Minimize Wastage of Water: A Bangladesh Perspective," </a:t>
            </a:r>
            <a:r>
              <a:rPr lang="en-IN" sz="1600" i="1" dirty="0"/>
              <a:t>2022.</a:t>
            </a:r>
            <a:endParaRPr lang="en-IN" sz="1600" dirty="0"/>
          </a:p>
          <a:p>
            <a:pPr>
              <a:lnSpc>
                <a:spcPct val="100000"/>
              </a:lnSpc>
              <a:buFont typeface="Wingdings" panose="05000000000000000000" pitchFamily="2" charset="2"/>
              <a:buChar char="Ø"/>
            </a:pPr>
            <a:r>
              <a:rPr lang="en-IN" sz="1600" i="1" dirty="0"/>
              <a:t> </a:t>
            </a:r>
            <a:r>
              <a:rPr lang="en-IN" sz="1600" dirty="0"/>
              <a:t>[4]. R. Yu, B. Wu and X. Huang, "Applied Research on Solar Water Saving Drip Irrigation System," </a:t>
            </a:r>
            <a:r>
              <a:rPr lang="en-IN" sz="1600" i="1" dirty="0"/>
              <a:t>2024 </a:t>
            </a:r>
            <a:endParaRPr lang="en-IN" sz="1600" dirty="0"/>
          </a:p>
          <a:p>
            <a:pPr>
              <a:lnSpc>
                <a:spcPct val="100000"/>
              </a:lnSpc>
              <a:buFont typeface="Wingdings" panose="05000000000000000000" pitchFamily="2" charset="2"/>
              <a:buChar char="Ø"/>
            </a:pPr>
            <a:r>
              <a:rPr lang="en-IN" sz="1600" dirty="0"/>
              <a:t> [5]. M. A. Habibi, A. </a:t>
            </a:r>
            <a:r>
              <a:rPr lang="en-IN" sz="1600" dirty="0" err="1"/>
              <a:t>Kusumawardana</a:t>
            </a:r>
            <a:r>
              <a:rPr lang="en-IN" sz="1600" dirty="0"/>
              <a:t>, L. </a:t>
            </a:r>
            <a:r>
              <a:rPr lang="en-IN" sz="1600" dirty="0" err="1"/>
              <a:t>Gumilar</a:t>
            </a:r>
            <a:r>
              <a:rPr lang="en-IN" sz="1600" dirty="0"/>
              <a:t>, B. A. Putra, R. S. Adjie and C. A. Adi Izhar, "Implementation of Internet of Things in Agriculture Irrigation System for Remote Monitoring and Controlling with Solar Energy," </a:t>
            </a:r>
            <a:r>
              <a:rPr lang="en-IN" sz="1600" i="1" dirty="0"/>
              <a:t>2022</a:t>
            </a:r>
            <a:endParaRPr lang="en-IN" sz="1600" dirty="0"/>
          </a:p>
          <a:p>
            <a:pPr>
              <a:lnSpc>
                <a:spcPct val="100000"/>
              </a:lnSpc>
              <a:buFont typeface="Wingdings" panose="05000000000000000000" pitchFamily="2" charset="2"/>
              <a:buChar char="Ø"/>
            </a:pPr>
            <a:r>
              <a:rPr lang="en-IN" sz="1600" dirty="0"/>
              <a:t> [6]. M. S. Ali, A. Jumaah and A. A. Qasim, "Automatic Irrigation System Using Solar Power System," </a:t>
            </a:r>
            <a:r>
              <a:rPr lang="en-IN" sz="1600" i="1" dirty="0"/>
              <a:t>2025 </a:t>
            </a:r>
            <a:endParaRPr lang="en-IN" sz="1600" dirty="0"/>
          </a:p>
          <a:p>
            <a:pPr>
              <a:lnSpc>
                <a:spcPct val="100000"/>
              </a:lnSpc>
              <a:buFont typeface="Wingdings" panose="05000000000000000000" pitchFamily="2" charset="2"/>
              <a:buChar char="Ø"/>
            </a:pPr>
            <a:r>
              <a:rPr lang="en-IN" sz="1600" i="1" dirty="0"/>
              <a:t> </a:t>
            </a:r>
            <a:r>
              <a:rPr lang="en-IN" sz="1600" dirty="0"/>
              <a:t>[7]. I. </a:t>
            </a:r>
            <a:r>
              <a:rPr lang="en-IN" sz="1600" dirty="0" err="1"/>
              <a:t>Ouremchi</a:t>
            </a:r>
            <a:r>
              <a:rPr lang="en-IN" sz="1600" dirty="0"/>
              <a:t>, M. Fattah, M. </a:t>
            </a:r>
            <a:r>
              <a:rPr lang="en-IN" sz="1600" dirty="0" err="1"/>
              <a:t>Mahfoudi</a:t>
            </a:r>
            <a:r>
              <a:rPr lang="en-IN" sz="1600" dirty="0"/>
              <a:t> and M. El </a:t>
            </a:r>
            <a:r>
              <a:rPr lang="en-IN" sz="1600" dirty="0" err="1"/>
              <a:t>Bekkali</a:t>
            </a:r>
            <a:r>
              <a:rPr lang="en-IN" sz="1600" dirty="0"/>
              <a:t>, "Artificial Intelligence and Internet of Things Powered Smart Irrigation: Transforming Agricultural Efficiency and Sustainability," </a:t>
            </a:r>
            <a:r>
              <a:rPr lang="en-IN" sz="1600" i="1" dirty="0"/>
              <a:t>2025 </a:t>
            </a:r>
            <a:endParaRPr lang="en-IN" sz="1600" dirty="0"/>
          </a:p>
          <a:p>
            <a:pPr>
              <a:lnSpc>
                <a:spcPct val="100000"/>
              </a:lnSpc>
              <a:buFont typeface="Wingdings" panose="05000000000000000000" pitchFamily="2" charset="2"/>
              <a:buChar char="Ø"/>
            </a:pPr>
            <a:r>
              <a:rPr lang="en-IN" sz="1600" i="1" dirty="0"/>
              <a:t> </a:t>
            </a:r>
            <a:r>
              <a:rPr lang="en-IN" sz="1600" dirty="0"/>
              <a:t>[8]. J. Byun, C. Jun, J. Kim, J. Cha and R. Narimani, "Deep Learning-Based Rainfall Prediction Using Cloud Image Analysis 2023.</a:t>
            </a:r>
          </a:p>
          <a:p>
            <a:pPr>
              <a:lnSpc>
                <a:spcPct val="100000"/>
              </a:lnSpc>
              <a:buFont typeface="Wingdings" panose="05000000000000000000" pitchFamily="2" charset="2"/>
              <a:buChar char="Ø"/>
            </a:pPr>
            <a:r>
              <a:rPr lang="en-IN" sz="1600" dirty="0"/>
              <a:t> [9]. M. K. </a:t>
            </a:r>
            <a:r>
              <a:rPr lang="en-IN" sz="1600" dirty="0" err="1"/>
              <a:t>Khuluq</a:t>
            </a:r>
            <a:r>
              <a:rPr lang="en-IN" sz="1600" dirty="0"/>
              <a:t>, </a:t>
            </a:r>
            <a:r>
              <a:rPr lang="en-IN" sz="1600" dirty="0" err="1"/>
              <a:t>Taufiqurrahman</a:t>
            </a:r>
            <a:r>
              <a:rPr lang="en-IN" sz="1600" dirty="0"/>
              <a:t> and A. I. Gunawan, "Hybrid AI-IoT System for Real-Time Flood Prediction and Pump Automation in Urban Areas," </a:t>
            </a:r>
            <a:r>
              <a:rPr lang="en-IN" sz="1600" i="1" dirty="0"/>
              <a:t>2025</a:t>
            </a:r>
            <a:endParaRPr lang="en-IN" sz="1600" dirty="0"/>
          </a:p>
          <a:p>
            <a:pPr>
              <a:lnSpc>
                <a:spcPct val="100000"/>
              </a:lnSpc>
              <a:buFont typeface="Wingdings" panose="05000000000000000000" pitchFamily="2" charset="2"/>
              <a:buChar char="Ø"/>
            </a:pPr>
            <a:r>
              <a:rPr lang="en-IN" sz="1600" dirty="0"/>
              <a:t> [10]. A. A. Patil and K. Kulkarni, "A Hybrid Machine Learning - Numerical Weather Prediction Approach for Rainfall Prediction," </a:t>
            </a:r>
            <a:r>
              <a:rPr lang="en-IN" sz="1600" i="1" dirty="0"/>
              <a:t>2023 .</a:t>
            </a:r>
            <a:endParaRPr lang="en-IN" sz="1600" dirty="0"/>
          </a:p>
          <a:p>
            <a:pPr marL="0" indent="0">
              <a:lnSpc>
                <a:spcPct val="100000"/>
              </a:lnSpc>
              <a:buNone/>
            </a:pPr>
            <a:endParaRPr lang="en-IN" sz="1600" dirty="0"/>
          </a:p>
        </p:txBody>
      </p:sp>
    </p:spTree>
    <p:extLst>
      <p:ext uri="{BB962C8B-B14F-4D97-AF65-F5344CB8AC3E}">
        <p14:creationId xmlns:p14="http://schemas.microsoft.com/office/powerpoint/2010/main" val="1782943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0E8EE-C9E6-F643-9C1D-6703282C3D68}"/>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E57AD1DA-A7A1-3952-AA13-F153CBA6DC41}"/>
              </a:ext>
            </a:extLst>
          </p:cNvPr>
          <p:cNvSpPr txBox="1"/>
          <p:nvPr/>
        </p:nvSpPr>
        <p:spPr>
          <a:xfrm>
            <a:off x="3334987" y="2767280"/>
            <a:ext cx="5355771" cy="1323439"/>
          </a:xfrm>
          <a:prstGeom prst="rect">
            <a:avLst/>
          </a:prstGeom>
          <a:noFill/>
        </p:spPr>
        <p:txBody>
          <a:bodyPr wrap="square" rtlCol="0">
            <a:spAutoFit/>
          </a:bodyPr>
          <a:lstStyle/>
          <a:p>
            <a:pPr algn="ctr"/>
            <a:r>
              <a:rPr lang="en-US" sz="8000" dirty="0">
                <a:solidFill>
                  <a:schemeClr val="accent6">
                    <a:lumMod val="75000"/>
                  </a:schemeClr>
                </a:solidFill>
              </a:rPr>
              <a:t>THANK YOU</a:t>
            </a:r>
            <a:endParaRPr lang="en-IN" sz="8000" dirty="0">
              <a:solidFill>
                <a:schemeClr val="accent6">
                  <a:lumMod val="75000"/>
                </a:schemeClr>
              </a:solidFill>
            </a:endParaRPr>
          </a:p>
        </p:txBody>
      </p:sp>
      <p:sp>
        <p:nvSpPr>
          <p:cNvPr id="2" name="Rectangle 1">
            <a:extLst>
              <a:ext uri="{FF2B5EF4-FFF2-40B4-BE49-F238E27FC236}">
                <a16:creationId xmlns:a16="http://schemas.microsoft.com/office/drawing/2014/main" id="{6288E902-9331-9494-900A-90FEAEBCC3E7}"/>
              </a:ext>
            </a:extLst>
          </p:cNvPr>
          <p:cNvSpPr/>
          <p:nvPr/>
        </p:nvSpPr>
        <p:spPr>
          <a:xfrm>
            <a:off x="0" y="0"/>
            <a:ext cx="12192000" cy="998671"/>
          </a:xfrm>
          <a:prstGeom prst="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 name="Image 2">
            <a:extLst>
              <a:ext uri="{FF2B5EF4-FFF2-40B4-BE49-F238E27FC236}">
                <a16:creationId xmlns:a16="http://schemas.microsoft.com/office/drawing/2014/main" id="{CDF25360-C06D-C958-C117-625AB61C14E0}"/>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1" y="0"/>
            <a:ext cx="1195158" cy="998671"/>
          </a:xfrm>
          <a:prstGeom prst="rect">
            <a:avLst/>
          </a:prstGeom>
        </p:spPr>
      </p:pic>
      <p:sp>
        <p:nvSpPr>
          <p:cNvPr id="7" name="Text Box 25">
            <a:extLst>
              <a:ext uri="{FF2B5EF4-FFF2-40B4-BE49-F238E27FC236}">
                <a16:creationId xmlns:a16="http://schemas.microsoft.com/office/drawing/2014/main" id="{BB9AC31D-E9BA-3B24-8D6D-2A29CFC0478D}"/>
              </a:ext>
            </a:extLst>
          </p:cNvPr>
          <p:cNvSpPr txBox="1"/>
          <p:nvPr/>
        </p:nvSpPr>
        <p:spPr>
          <a:xfrm>
            <a:off x="0" y="6488668"/>
            <a:ext cx="12192000" cy="369332"/>
          </a:xfrm>
          <a:prstGeom prst="rect">
            <a:avLst/>
          </a:prstGeom>
          <a:solidFill>
            <a:srgbClr val="92D050"/>
          </a:solidFill>
          <a:ln>
            <a:solidFill>
              <a:schemeClr val="accent6"/>
            </a:solidFill>
          </a:ln>
        </p:spPr>
        <p:txBody>
          <a:bodyPr wrap="square" rtlCol="0" anchor="t">
            <a:spAutoFit/>
          </a:bodyPr>
          <a:lstStyle/>
          <a:p>
            <a:pPr algn="ctr"/>
            <a:r>
              <a:rPr lang="en-US" b="1" dirty="0">
                <a:solidFill>
                  <a:schemeClr val="bg1"/>
                </a:solidFill>
              </a:rPr>
              <a:t>KIT-Electrical and Electronics Engineering</a:t>
            </a:r>
          </a:p>
        </p:txBody>
      </p:sp>
      <p:pic>
        <p:nvPicPr>
          <p:cNvPr id="4" name="Picture 3">
            <a:extLst>
              <a:ext uri="{FF2B5EF4-FFF2-40B4-BE49-F238E27FC236}">
                <a16:creationId xmlns:a16="http://schemas.microsoft.com/office/drawing/2014/main" id="{AAFFD7C9-1E21-F936-0BF4-F97354B96AE0}"/>
              </a:ext>
            </a:extLst>
          </p:cNvPr>
          <p:cNvPicPr>
            <a:picLocks noChangeAspect="1"/>
          </p:cNvPicPr>
          <p:nvPr/>
        </p:nvPicPr>
        <p:blipFill>
          <a:blip r:embed="rId3" cstate="print">
            <a:extLst>
              <a:ext uri="{28A0092B-C50C-407E-A947-70E740481C1C}">
                <a14:useLocalDpi xmlns:a14="http://schemas.microsoft.com/office/drawing/2010/main" val="0"/>
              </a:ext>
            </a:extLst>
          </a:blip>
          <a:srcRect t="15422" b="21632"/>
          <a:stretch>
            <a:fillRect/>
          </a:stretch>
        </p:blipFill>
        <p:spPr>
          <a:xfrm>
            <a:off x="11085633" y="0"/>
            <a:ext cx="1106366" cy="998671"/>
          </a:xfrm>
          <a:prstGeom prst="rect">
            <a:avLst/>
          </a:prstGeom>
        </p:spPr>
      </p:pic>
    </p:spTree>
    <p:extLst>
      <p:ext uri="{BB962C8B-B14F-4D97-AF65-F5344CB8AC3E}">
        <p14:creationId xmlns:p14="http://schemas.microsoft.com/office/powerpoint/2010/main" val="262996933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814</TotalTime>
  <Words>1704</Words>
  <Application>Microsoft Office PowerPoint</Application>
  <PresentationFormat>Widescreen</PresentationFormat>
  <Paragraphs>151</Paragraphs>
  <Slides>14</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Arial</vt:lpstr>
      <vt:lpstr>Calibri</vt:lpstr>
      <vt:lpstr>Calibri Light</vt:lpstr>
      <vt:lpstr>Cambria</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Shubham</dc:creator>
  <cp:lastModifiedBy>Pooja P</cp:lastModifiedBy>
  <cp:revision>67</cp:revision>
  <dcterms:created xsi:type="dcterms:W3CDTF">2023-11-24T16:43:00Z</dcterms:created>
  <dcterms:modified xsi:type="dcterms:W3CDTF">2025-11-03T16:07:04Z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5456EE27B2694612BB5B21F35167A5EE_11</vt:lpwstr>
  </property>
  <property fmtid="{D5CDD505-2E9C-101B-9397-08002B2CF9AE}" pid="3" name="KSOProductBuildVer">
    <vt:lpwstr>1033-12.2.0.13306</vt:lpwstr>
  </property>
</Properties>
</file>